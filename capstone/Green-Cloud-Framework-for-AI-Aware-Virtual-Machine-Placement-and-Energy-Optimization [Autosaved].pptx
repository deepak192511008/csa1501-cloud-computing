
<file path=[Content_Types].xml><?xml version="1.0" encoding="utf-8"?>
<Types xmlns="http://schemas.openxmlformats.org/package/2006/content-types">
  <Default Extension="fntdata" ContentType="application/x-fontdata"/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embedTrueTypeFonts="1" saveSubsetFonts="1" autoCompressPictures="0">
  <p:sldMasterIdLst>
    <p:sldMasterId id="2147483648" r:id="rId1"/>
  </p:sldMasterIdLst>
  <p:notesMasterIdLst>
    <p:notesMasterId r:id="rId15"/>
  </p:notesMasterIdLst>
  <p:sldIdLst>
    <p:sldId id="256" r:id="rId2"/>
    <p:sldId id="257" r:id="rId3"/>
    <p:sldId id="267" r:id="rId4"/>
    <p:sldId id="258" r:id="rId5"/>
    <p:sldId id="259" r:id="rId6"/>
    <p:sldId id="260" r:id="rId7"/>
    <p:sldId id="261" r:id="rId8"/>
    <p:sldId id="262" r:id="rId9"/>
    <p:sldId id="263" r:id="rId10"/>
    <p:sldId id="264" r:id="rId11"/>
    <p:sldId id="265" r:id="rId12"/>
    <p:sldId id="266" r:id="rId13"/>
    <p:sldId id="268" r:id="rId14"/>
  </p:sldIdLst>
  <p:sldSz cx="9144000" cy="5143500" type="screen16x9"/>
  <p:notesSz cx="5143500" cy="9144000"/>
  <p:embeddedFontLst>
    <p:embeddedFont>
      <p:font typeface="Patrick Hand" panose="00000500000000000000" pitchFamily="2" charset="0"/>
      <p:regular r:id="rId16"/>
    </p:embeddedFont>
  </p:embeddedFontLst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4995" autoAdjust="0"/>
    <p:restoredTop sz="94610"/>
  </p:normalViewPr>
  <p:slideViewPr>
    <p:cSldViewPr snapToGrid="0" snapToObjects="1">
      <p:cViewPr varScale="1">
        <p:scale>
          <a:sx n="104" d="100"/>
          <a:sy n="104" d="100"/>
        </p:scale>
        <p:origin x="878" y="7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presProps" Target="presProps.xml"/><Relationship Id="rId2" Type="http://schemas.openxmlformats.org/officeDocument/2006/relationships/slide" Target="slides/slide1.xml"/><Relationship Id="rId16" Type="http://schemas.openxmlformats.org/officeDocument/2006/relationships/font" Target="fonts/font1.fntdata"/><Relationship Id="rId20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notesMaster" Target="notesMasters/notesMaster1.xml"/><Relationship Id="rId10" Type="http://schemas.openxmlformats.org/officeDocument/2006/relationships/slide" Target="slides/slide9.xml"/><Relationship Id="rId19" Type="http://schemas.openxmlformats.org/officeDocument/2006/relationships/theme" Target="theme/theme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19841866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67815EE-FF3A-C424-740C-1DEF05EC86B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588300A5-73A6-2B95-E15C-EE0DA3947B6C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361851F6-4414-DAA2-8223-566286A759C0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6830FFF0-7005-06C7-8651-14394F1A6F18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36352982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56E8A90-9AD1-456A-A96B-247AA18760F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A531ADE6-DD93-AC07-8512-E952FA61BD4E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DE05A64D-F140-5B77-4539-219D34FE5869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4033AEEF-63EB-882C-D275-DDD547845090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67902496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D29E030-F972-0AEC-168D-347F1AE52F2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D017542D-DA8D-04A7-BF1A-44A2FDCF38A8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9857A4BE-43AF-5F87-2E3F-3AEED35FE87A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40DCF5C3-D112-09BC-676B-D4B39817EF49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17034418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master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D9D9D9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F7F7F7"/>
          </a:solidFill>
          <a:ln/>
        </p:spPr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8" Type="http://schemas.openxmlformats.org/officeDocument/2006/relationships/image" Target="../media/image8.svg"/><Relationship Id="rId3" Type="http://schemas.openxmlformats.org/officeDocument/2006/relationships/image" Target="../media/image3.svg"/><Relationship Id="rId7" Type="http://schemas.openxmlformats.org/officeDocument/2006/relationships/image" Target="../media/image7.sv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6.svg"/><Relationship Id="rId5" Type="http://schemas.openxmlformats.org/officeDocument/2006/relationships/image" Target="../media/image5.svg"/><Relationship Id="rId4" Type="http://schemas.openxmlformats.org/officeDocument/2006/relationships/image" Target="../media/image4.svg"/><Relationship Id="rId9" Type="http://schemas.openxmlformats.org/officeDocument/2006/relationships/image" Target="../media/image9.sv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8" Type="http://schemas.openxmlformats.org/officeDocument/2006/relationships/image" Target="../media/image18.png"/><Relationship Id="rId3" Type="http://schemas.openxmlformats.org/officeDocument/2006/relationships/image" Target="../media/image13.png"/><Relationship Id="rId7" Type="http://schemas.openxmlformats.org/officeDocument/2006/relationships/image" Target="../media/image17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16.png"/><Relationship Id="rId5" Type="http://schemas.openxmlformats.org/officeDocument/2006/relationships/image" Target="../media/image15.png"/><Relationship Id="rId10" Type="http://schemas.openxmlformats.org/officeDocument/2006/relationships/image" Target="../media/image20.png"/><Relationship Id="rId4" Type="http://schemas.openxmlformats.org/officeDocument/2006/relationships/image" Target="../media/image14.png"/><Relationship Id="rId9" Type="http://schemas.openxmlformats.org/officeDocument/2006/relationships/image" Target="../media/image19.png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21.pn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2.png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3.png"/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8" Type="http://schemas.openxmlformats.org/officeDocument/2006/relationships/image" Target="../media/image23.png"/><Relationship Id="rId3" Type="http://schemas.openxmlformats.org/officeDocument/2006/relationships/hyperlink" Target="https://doi.org/10.3390/network5020017" TargetMode="External"/><Relationship Id="rId7" Type="http://schemas.openxmlformats.org/officeDocument/2006/relationships/hyperlink" Target="https://doi.org/10.48550/arXiv.2510.00541" TargetMode="External"/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2.xml"/><Relationship Id="rId6" Type="http://schemas.openxmlformats.org/officeDocument/2006/relationships/hyperlink" Target="https://doi.org/10.48550/arXiv.2504.17675" TargetMode="External"/><Relationship Id="rId5" Type="http://schemas.openxmlformats.org/officeDocument/2006/relationships/hyperlink" Target="https://doi.org/10.48550/arXiv.2408.13386" TargetMode="External"/><Relationship Id="rId4" Type="http://schemas.openxmlformats.org/officeDocument/2006/relationships/hyperlink" Target="https://doi.org/10.1007/s10723-025-09798-2" TargetMode="Externa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0023" y="1075585"/>
            <a:ext cx="8063954" cy="77137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ctr">
              <a:lnSpc>
                <a:spcPct val="104000"/>
              </a:lnSpc>
              <a:buNone/>
            </a:pPr>
            <a:r>
              <a:rPr lang="en-US" sz="2400" dirty="0">
                <a:solidFill>
                  <a:srgbClr val="383838"/>
                </a:solidFill>
                <a:latin typeface="Patrick Hand" pitchFamily="34" charset="0"/>
                <a:ea typeface="Patrick Hand" pitchFamily="34" charset="-122"/>
                <a:cs typeface="Patrick Hand" pitchFamily="34" charset="-120"/>
              </a:rPr>
              <a:t>Green Cloud Framework for AI-Aware Virtual Machine Placement and Energy Optimization</a:t>
            </a:r>
            <a:endParaRPr lang="en-US" sz="2400" dirty="0"/>
          </a:p>
        </p:txBody>
      </p:sp>
      <p:sp>
        <p:nvSpPr>
          <p:cNvPr id="3" name="Text 1"/>
          <p:cNvSpPr/>
          <p:nvPr/>
        </p:nvSpPr>
        <p:spPr>
          <a:xfrm>
            <a:off x="540023" y="2087761"/>
            <a:ext cx="8063954" cy="49381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Autofit/>
          </a:bodyPr>
          <a:lstStyle/>
          <a:p>
            <a:pPr marL="0" indent="0" algn="l">
              <a:lnSpc>
                <a:spcPct val="133000"/>
              </a:lnSpc>
              <a:buNone/>
            </a:pPr>
            <a:r>
              <a:rPr lang="en-US" sz="1500" dirty="0">
                <a:solidFill>
                  <a:srgbClr val="383838"/>
                </a:solidFill>
                <a:latin typeface="Patrick Hand" pitchFamily="34" charset="0"/>
                <a:ea typeface="Patrick Hand" pitchFamily="34" charset="-122"/>
                <a:cs typeface="Patrick Hand" pitchFamily="34" charset="-120"/>
              </a:rPr>
              <a:t>     An intelligent cloud resource management framework using CloudSim Plus and AI     for energy-efficient VM placement, migration and monitoring.   </a:t>
            </a:r>
            <a:endParaRPr lang="en-US" sz="1500" dirty="0"/>
          </a:p>
        </p:txBody>
      </p:sp>
      <p:sp>
        <p:nvSpPr>
          <p:cNvPr id="11" name="Text 6"/>
          <p:cNvSpPr/>
          <p:nvPr/>
        </p:nvSpPr>
        <p:spPr>
          <a:xfrm>
            <a:off x="855731" y="3148824"/>
            <a:ext cx="2503046" cy="19288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ct val="104000"/>
              </a:lnSpc>
              <a:buNone/>
            </a:pPr>
            <a:r>
              <a:rPr lang="en-US" dirty="0">
                <a:solidFill>
                  <a:srgbClr val="383838"/>
                </a:solidFill>
                <a:latin typeface="Patrick Hand" pitchFamily="34" charset="0"/>
              </a:rPr>
              <a:t>Under the guidance of</a:t>
            </a:r>
            <a:endParaRPr lang="en-US" dirty="0"/>
          </a:p>
        </p:txBody>
      </p:sp>
      <p:sp>
        <p:nvSpPr>
          <p:cNvPr id="12" name="Text 7"/>
          <p:cNvSpPr/>
          <p:nvPr/>
        </p:nvSpPr>
        <p:spPr>
          <a:xfrm>
            <a:off x="855731" y="3434277"/>
            <a:ext cx="2503046" cy="987623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>
              <a:lnSpc>
                <a:spcPct val="133000"/>
              </a:lnSpc>
            </a:pPr>
            <a:r>
              <a:rPr lang="en-US" dirty="0">
                <a:solidFill>
                  <a:srgbClr val="383838"/>
                </a:solidFill>
                <a:latin typeface="Patrick Hand" pitchFamily="34" charset="0"/>
                <a:ea typeface="Patrick Hand" pitchFamily="34" charset="-122"/>
                <a:cs typeface="Patrick Hand" pitchFamily="34" charset="-120"/>
              </a:rPr>
              <a:t>Dr MD </a:t>
            </a:r>
            <a:r>
              <a:rPr lang="en-US" dirty="0" err="1">
                <a:solidFill>
                  <a:srgbClr val="383838"/>
                </a:solidFill>
                <a:latin typeface="Patrick Hand" pitchFamily="34" charset="0"/>
                <a:ea typeface="Patrick Hand" pitchFamily="34" charset="-122"/>
                <a:cs typeface="Patrick Hand" pitchFamily="34" charset="-120"/>
              </a:rPr>
              <a:t>Boomija</a:t>
            </a:r>
            <a:endParaRPr lang="en-US" dirty="0"/>
          </a:p>
        </p:txBody>
      </p:sp>
      <p:sp>
        <p:nvSpPr>
          <p:cNvPr id="14" name="Text 8"/>
          <p:cNvSpPr/>
          <p:nvPr/>
        </p:nvSpPr>
        <p:spPr>
          <a:xfrm>
            <a:off x="5030057" y="3210147"/>
            <a:ext cx="2503192" cy="19288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ct val="104000"/>
              </a:lnSpc>
              <a:buNone/>
            </a:pPr>
            <a:r>
              <a:rPr lang="en-US" dirty="0">
                <a:solidFill>
                  <a:srgbClr val="383838"/>
                </a:solidFill>
                <a:latin typeface="Patrick Hand" pitchFamily="34" charset="0"/>
                <a:ea typeface="Patrick Hand" pitchFamily="34" charset="-122"/>
                <a:cs typeface="Patrick Hand" pitchFamily="34" charset="-120"/>
              </a:rPr>
              <a:t>Done by</a:t>
            </a:r>
            <a:endParaRPr lang="en-US" dirty="0"/>
          </a:p>
        </p:txBody>
      </p:sp>
      <p:sp>
        <p:nvSpPr>
          <p:cNvPr id="15" name="Text 9"/>
          <p:cNvSpPr/>
          <p:nvPr/>
        </p:nvSpPr>
        <p:spPr>
          <a:xfrm>
            <a:off x="5030057" y="3495600"/>
            <a:ext cx="2503192" cy="58638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lnSpc>
                <a:spcPct val="133000"/>
              </a:lnSpc>
              <a:spcAft>
                <a:spcPts val="700"/>
              </a:spcAft>
              <a:buNone/>
            </a:pPr>
            <a:r>
              <a:rPr lang="en-US" dirty="0">
                <a:solidFill>
                  <a:srgbClr val="383838"/>
                </a:solidFill>
                <a:latin typeface="Patrick Hand" pitchFamily="34" charset="0"/>
                <a:ea typeface="Patrick Hand" pitchFamily="34" charset="-122"/>
                <a:cs typeface="Patrick Hand" pitchFamily="34" charset="-120"/>
              </a:rPr>
              <a:t>Deepak R (192511008)</a:t>
            </a:r>
            <a:endParaRPr lang="en-US" dirty="0"/>
          </a:p>
          <a:p>
            <a:pPr marL="0" indent="0" algn="ctr">
              <a:lnSpc>
                <a:spcPct val="133000"/>
              </a:lnSpc>
              <a:buNone/>
            </a:pPr>
            <a:r>
              <a:rPr lang="en-US" dirty="0">
                <a:solidFill>
                  <a:srgbClr val="383838"/>
                </a:solidFill>
                <a:latin typeface="Patrick Hand" pitchFamily="34" charset="0"/>
                <a:ea typeface="Patrick Hand" pitchFamily="34" charset="-122"/>
                <a:cs typeface="Patrick Hand" pitchFamily="34" charset="-120"/>
              </a:rPr>
              <a:t>Bharath S (192521034)</a:t>
            </a:r>
            <a:endParaRPr lang="en-US" dirty="0"/>
          </a:p>
        </p:txBody>
      </p:sp>
      <p:pic>
        <p:nvPicPr>
          <p:cNvPr id="17" name="Picture 16">
            <a:extLst>
              <a:ext uri="{FF2B5EF4-FFF2-40B4-BE49-F238E27FC236}">
                <a16:creationId xmlns:a16="http://schemas.microsoft.com/office/drawing/2014/main" id="{C967B6E2-36A3-A137-021B-6D1AC9E19ED4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51682" y="64299"/>
            <a:ext cx="7076054" cy="910452"/>
          </a:xfrm>
          <a:prstGeom prst="rect">
            <a:avLst/>
          </a:prstGeom>
        </p:spPr>
      </p:pic>
      <p:sp>
        <p:nvSpPr>
          <p:cNvPr id="20" name="Text 6">
            <a:extLst>
              <a:ext uri="{FF2B5EF4-FFF2-40B4-BE49-F238E27FC236}">
                <a16:creationId xmlns:a16="http://schemas.microsoft.com/office/drawing/2014/main" id="{A2065EF2-92A0-E7C6-4543-2F3838EAD0A1}"/>
              </a:ext>
            </a:extLst>
          </p:cNvPr>
          <p:cNvSpPr/>
          <p:nvPr/>
        </p:nvSpPr>
        <p:spPr>
          <a:xfrm>
            <a:off x="3238186" y="2754200"/>
            <a:ext cx="2503046" cy="19288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ct val="104000"/>
              </a:lnSpc>
              <a:buNone/>
            </a:pPr>
            <a:r>
              <a:rPr lang="en-US" dirty="0">
                <a:solidFill>
                  <a:srgbClr val="383838"/>
                </a:solidFill>
                <a:latin typeface="Patrick Hand" pitchFamily="34" charset="0"/>
              </a:rPr>
              <a:t>CSA1501-Cloud Computing</a:t>
            </a:r>
            <a:endParaRPr lang="en-US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 1"/>
          <p:cNvSpPr/>
          <p:nvPr/>
        </p:nvSpPr>
        <p:spPr>
          <a:xfrm>
            <a:off x="2107294" y="276080"/>
            <a:ext cx="4634954" cy="38568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ct val="104000"/>
              </a:lnSpc>
              <a:buNone/>
            </a:pPr>
            <a:r>
              <a:rPr lang="en-US" sz="2400" dirty="0">
                <a:solidFill>
                  <a:srgbClr val="383838"/>
                </a:solidFill>
                <a:latin typeface="Patrick Hand" pitchFamily="34" charset="0"/>
                <a:ea typeface="Patrick Hand" pitchFamily="34" charset="-122"/>
                <a:cs typeface="Patrick Hand" pitchFamily="34" charset="-120"/>
              </a:rPr>
              <a:t>Abstract</a:t>
            </a:r>
            <a:endParaRPr lang="en-US" sz="2400" dirty="0"/>
          </a:p>
        </p:txBody>
      </p:sp>
      <p:sp>
        <p:nvSpPr>
          <p:cNvPr id="5" name="Text 2"/>
          <p:cNvSpPr/>
          <p:nvPr/>
        </p:nvSpPr>
        <p:spPr>
          <a:xfrm>
            <a:off x="549606" y="816281"/>
            <a:ext cx="7750331" cy="4051139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Autofit/>
          </a:bodyPr>
          <a:lstStyle/>
          <a:p>
            <a:pPr marL="243840" indent="-243840" algn="just">
              <a:lnSpc>
                <a:spcPct val="133000"/>
              </a:lnSpc>
              <a:buSzPct val="100000"/>
              <a:buChar char="•"/>
            </a:pPr>
            <a:r>
              <a:rPr lang="en-US" sz="1400" dirty="0" err="1">
                <a:solidFill>
                  <a:srgbClr val="383838"/>
                </a:solidFill>
                <a:latin typeface="Patrick Hand" pitchFamily="34" charset="0"/>
                <a:ea typeface="Patrick Hand" pitchFamily="34" charset="-122"/>
                <a:cs typeface="Patrick Hand" pitchFamily="34" charset="-120"/>
              </a:rPr>
              <a:t>CloudSim</a:t>
            </a:r>
            <a:r>
              <a:rPr lang="en-US" sz="1400" dirty="0">
                <a:solidFill>
                  <a:srgbClr val="383838"/>
                </a:solidFill>
                <a:latin typeface="Patrick Hand" pitchFamily="34" charset="0"/>
                <a:ea typeface="Patrick Hand" pitchFamily="34" charset="-122"/>
                <a:cs typeface="Patrick Hand" pitchFamily="34" charset="-120"/>
              </a:rPr>
              <a:t>-based simulation: Simulates cloud infrastructure using hosts, VMs, and cloudlets without requiring physical cloud hardware.</a:t>
            </a:r>
          </a:p>
          <a:p>
            <a:pPr marL="243840" indent="-243840" algn="just">
              <a:lnSpc>
                <a:spcPct val="133000"/>
              </a:lnSpc>
              <a:buSzPct val="100000"/>
              <a:buChar char="•"/>
            </a:pPr>
            <a:r>
              <a:rPr lang="en-US" sz="1400" dirty="0">
                <a:solidFill>
                  <a:srgbClr val="383838"/>
                </a:solidFill>
                <a:latin typeface="Patrick Hand" pitchFamily="34" charset="0"/>
                <a:ea typeface="Patrick Hand" pitchFamily="34" charset="-122"/>
                <a:cs typeface="Patrick Hand" pitchFamily="34" charset="-120"/>
              </a:rPr>
              <a:t>Resource monitoring: Monitors CPU, RAM, VM utilization, running workloads, and host status during simulation.</a:t>
            </a:r>
          </a:p>
          <a:p>
            <a:pPr marL="243840" indent="-243840" algn="just">
              <a:lnSpc>
                <a:spcPct val="133000"/>
              </a:lnSpc>
              <a:buSzPct val="100000"/>
              <a:buChar char="•"/>
            </a:pPr>
            <a:r>
              <a:rPr lang="en-US" sz="1400" dirty="0">
                <a:solidFill>
                  <a:srgbClr val="383838"/>
                </a:solidFill>
                <a:latin typeface="Patrick Hand" pitchFamily="34" charset="0"/>
                <a:ea typeface="Patrick Hand" pitchFamily="34" charset="-122"/>
                <a:cs typeface="Patrick Hand" pitchFamily="34" charset="-120"/>
              </a:rPr>
              <a:t>Energy analysis: Calculates host power consumption and total energy usage to evaluate the energy efficiency of different cloud configurations.</a:t>
            </a:r>
          </a:p>
          <a:p>
            <a:pPr marL="243840" indent="-243840" algn="just">
              <a:lnSpc>
                <a:spcPct val="133000"/>
              </a:lnSpc>
              <a:buSzPct val="100000"/>
              <a:buChar char="•"/>
            </a:pPr>
            <a:r>
              <a:rPr lang="en-US" sz="1400" dirty="0">
                <a:solidFill>
                  <a:srgbClr val="383838"/>
                </a:solidFill>
                <a:latin typeface="Patrick Hand" pitchFamily="34" charset="0"/>
                <a:ea typeface="Patrick Hand" pitchFamily="34" charset="-122"/>
                <a:cs typeface="Patrick Hand" pitchFamily="34" charset="-120"/>
              </a:rPr>
              <a:t>Resource management: Tracks VM placement and migrations to study how workloads are distributed across physical hosts.</a:t>
            </a:r>
          </a:p>
          <a:p>
            <a:pPr marL="243840" indent="-243840" algn="just">
              <a:lnSpc>
                <a:spcPct val="133000"/>
              </a:lnSpc>
              <a:buSzPct val="100000"/>
              <a:buChar char="•"/>
            </a:pPr>
            <a:r>
              <a:rPr lang="en-US" sz="1400" dirty="0">
                <a:solidFill>
                  <a:srgbClr val="383838"/>
                </a:solidFill>
                <a:latin typeface="Patrick Hand" pitchFamily="34" charset="0"/>
                <a:ea typeface="Patrick Hand" pitchFamily="34" charset="-122"/>
                <a:cs typeface="Patrick Hand" pitchFamily="34" charset="-120"/>
              </a:rPr>
              <a:t>Performance evaluation: Measures SLA violations, cloudlet execution, resource utilization, and migration behavior under different workloads.</a:t>
            </a:r>
          </a:p>
          <a:p>
            <a:pPr marL="243840" indent="-243840" algn="just">
              <a:lnSpc>
                <a:spcPct val="133000"/>
              </a:lnSpc>
              <a:buSzPct val="100000"/>
              <a:buChar char="•"/>
            </a:pPr>
            <a:r>
              <a:rPr lang="en-US" sz="1400" dirty="0">
                <a:solidFill>
                  <a:srgbClr val="383838"/>
                </a:solidFill>
                <a:latin typeface="Patrick Hand" pitchFamily="34" charset="0"/>
                <a:ea typeface="Patrick Hand" pitchFamily="34" charset="-122"/>
                <a:cs typeface="Patrick Hand" pitchFamily="34" charset="-120"/>
              </a:rPr>
              <a:t>Live visualization: Provides a live dashboard with KPI cards, utilization graphs, energy graphs, migration timeline, and host-level details.</a:t>
            </a:r>
          </a:p>
          <a:p>
            <a:pPr marL="243840" indent="-243840" algn="just">
              <a:lnSpc>
                <a:spcPct val="133000"/>
              </a:lnSpc>
              <a:buSzPct val="100000"/>
              <a:buChar char="•"/>
            </a:pPr>
            <a:r>
              <a:rPr lang="en-US" sz="1400" dirty="0">
                <a:solidFill>
                  <a:srgbClr val="383838"/>
                </a:solidFill>
                <a:latin typeface="Patrick Hand" pitchFamily="34" charset="0"/>
                <a:ea typeface="Patrick Hand" pitchFamily="34" charset="-122"/>
                <a:cs typeface="Patrick Hand" pitchFamily="34" charset="-120"/>
              </a:rPr>
              <a:t>Configuration comparison: Allows different numbers of hosts, VMs, and workload sizes to be tested and compared before deploying similar infrastructure in a real environment.</a:t>
            </a:r>
            <a:endParaRPr lang="en-US" sz="14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8399D3F-034F-D006-137E-8914A5748CA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>
            <a:extLst>
              <a:ext uri="{FF2B5EF4-FFF2-40B4-BE49-F238E27FC236}">
                <a16:creationId xmlns:a16="http://schemas.microsoft.com/office/drawing/2014/main" id="{F5897D9F-012A-9BE6-155E-E1D3751920E4}"/>
              </a:ext>
            </a:extLst>
          </p:cNvPr>
          <p:cNvSpPr/>
          <p:nvPr/>
        </p:nvSpPr>
        <p:spPr>
          <a:xfrm>
            <a:off x="0" y="0"/>
            <a:ext cx="3429000" cy="5143500"/>
          </a:xfrm>
          <a:prstGeom prst="rect">
            <a:avLst/>
          </a:prstGeom>
          <a:solidFill>
            <a:srgbClr val="E6E6E6"/>
          </a:solidFill>
          <a:ln/>
        </p:spPr>
      </p:sp>
      <p:pic>
        <p:nvPicPr>
          <p:cNvPr id="3" name="Image 0" descr="preencoded.png">
            <a:extLst>
              <a:ext uri="{FF2B5EF4-FFF2-40B4-BE49-F238E27FC236}">
                <a16:creationId xmlns:a16="http://schemas.microsoft.com/office/drawing/2014/main" id="{59159513-AC6B-3DB8-18CD-1AB9FCB4CD36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7093" y="115639"/>
            <a:ext cx="3274814" cy="4912221"/>
          </a:xfrm>
          <a:prstGeom prst="rect">
            <a:avLst/>
          </a:prstGeom>
        </p:spPr>
      </p:pic>
      <p:sp>
        <p:nvSpPr>
          <p:cNvPr id="4" name="Text 1">
            <a:extLst>
              <a:ext uri="{FF2B5EF4-FFF2-40B4-BE49-F238E27FC236}">
                <a16:creationId xmlns:a16="http://schemas.microsoft.com/office/drawing/2014/main" id="{79D18297-18CA-E9DE-4B5E-C1B6E42132B0}"/>
              </a:ext>
            </a:extLst>
          </p:cNvPr>
          <p:cNvSpPr/>
          <p:nvPr/>
        </p:nvSpPr>
        <p:spPr>
          <a:xfrm>
            <a:off x="3969023" y="1204317"/>
            <a:ext cx="4634954" cy="38568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2400" dirty="0">
                <a:solidFill>
                  <a:srgbClr val="383838"/>
                </a:solidFill>
                <a:latin typeface="Patrick Hand" pitchFamily="34" charset="0"/>
                <a:ea typeface="Patrick Hand" pitchFamily="34" charset="-122"/>
                <a:cs typeface="Patrick Hand" pitchFamily="34" charset="-120"/>
              </a:rPr>
              <a:t>Problem Statement</a:t>
            </a:r>
            <a:endParaRPr lang="en-US" sz="2400" dirty="0"/>
          </a:p>
        </p:txBody>
      </p:sp>
      <p:sp>
        <p:nvSpPr>
          <p:cNvPr id="5" name="Text 2">
            <a:extLst>
              <a:ext uri="{FF2B5EF4-FFF2-40B4-BE49-F238E27FC236}">
                <a16:creationId xmlns:a16="http://schemas.microsoft.com/office/drawing/2014/main" id="{082F1AA7-5243-5F85-47E6-5F7739EFBCDC}"/>
              </a:ext>
            </a:extLst>
          </p:cNvPr>
          <p:cNvSpPr/>
          <p:nvPr/>
        </p:nvSpPr>
        <p:spPr>
          <a:xfrm>
            <a:off x="3969023" y="1821433"/>
            <a:ext cx="4634954" cy="145033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243840" indent="-243840" algn="l">
              <a:lnSpc>
                <a:spcPct val="133000"/>
              </a:lnSpc>
              <a:buSzPct val="100000"/>
              <a:buChar char="•"/>
            </a:pPr>
            <a:r>
              <a:rPr lang="en-US" sz="1200" dirty="0">
                <a:solidFill>
                  <a:srgbClr val="383838"/>
                </a:solidFill>
                <a:latin typeface="Patrick Hand" pitchFamily="34" charset="0"/>
                <a:ea typeface="Patrick Hand" pitchFamily="34" charset="-122"/>
                <a:cs typeface="Patrick Hand" pitchFamily="34" charset="-120"/>
              </a:rPr>
              <a:t>High energy consumption across cloud datacentres.</a:t>
            </a:r>
            <a:endParaRPr lang="en-US" sz="1200" dirty="0"/>
          </a:p>
          <a:p>
            <a:pPr marL="243840" indent="-243840" algn="l">
              <a:lnSpc>
                <a:spcPct val="133000"/>
              </a:lnSpc>
              <a:buSzPct val="100000"/>
              <a:buChar char="•"/>
            </a:pPr>
            <a:r>
              <a:rPr lang="en-US" sz="1200" dirty="0">
                <a:solidFill>
                  <a:srgbClr val="383838"/>
                </a:solidFill>
                <a:latin typeface="Patrick Hand" pitchFamily="34" charset="0"/>
                <a:ea typeface="Patrick Hand" pitchFamily="34" charset="-122"/>
                <a:cs typeface="Patrick Hand" pitchFamily="34" charset="-120"/>
              </a:rPr>
              <a:t>Poor and static VM allocation leading to resource wastage.</a:t>
            </a:r>
            <a:endParaRPr lang="en-US" sz="1200" dirty="0"/>
          </a:p>
          <a:p>
            <a:pPr marL="243840" indent="-243840" algn="l">
              <a:lnSpc>
                <a:spcPct val="133000"/>
              </a:lnSpc>
              <a:buSzPct val="100000"/>
              <a:buChar char="•"/>
            </a:pPr>
            <a:r>
              <a:rPr lang="en-US" sz="1200" dirty="0">
                <a:solidFill>
                  <a:srgbClr val="383838"/>
                </a:solidFill>
                <a:latin typeface="Patrick Hand" pitchFamily="34" charset="0"/>
                <a:ea typeface="Patrick Hand" pitchFamily="34" charset="-122"/>
                <a:cs typeface="Patrick Hand" pitchFamily="34" charset="-120"/>
              </a:rPr>
              <a:t>Uneven host utilisation — some hosts overloaded, others idle.</a:t>
            </a:r>
            <a:endParaRPr lang="en-US" sz="1200" dirty="0"/>
          </a:p>
          <a:p>
            <a:pPr marL="243840" indent="-243840" algn="l">
              <a:lnSpc>
                <a:spcPct val="133000"/>
              </a:lnSpc>
              <a:buSzPct val="100000"/>
              <a:buChar char="•"/>
            </a:pPr>
            <a:r>
              <a:rPr lang="en-US" sz="1200" dirty="0">
                <a:solidFill>
                  <a:srgbClr val="383838"/>
                </a:solidFill>
                <a:latin typeface="Patrick Hand" pitchFamily="34" charset="0"/>
                <a:ea typeface="Patrick Hand" pitchFamily="34" charset="-122"/>
                <a:cs typeface="Patrick Hand" pitchFamily="34" charset="-120"/>
              </a:rPr>
              <a:t>No intelligent real-time monitoring to trigger corrective actions.</a:t>
            </a:r>
            <a:endParaRPr lang="en-US" sz="1200" dirty="0"/>
          </a:p>
          <a:p>
            <a:pPr marL="243840" indent="-243840" algn="l">
              <a:lnSpc>
                <a:spcPct val="133000"/>
              </a:lnSpc>
              <a:buSzPct val="100000"/>
              <a:buChar char="•"/>
            </a:pPr>
            <a:r>
              <a:rPr lang="en-US" sz="1200" dirty="0">
                <a:solidFill>
                  <a:srgbClr val="383838"/>
                </a:solidFill>
                <a:latin typeface="Patrick Hand" pitchFamily="34" charset="0"/>
                <a:ea typeface="Patrick Hand" pitchFamily="34" charset="-122"/>
                <a:cs typeface="Patrick Hand" pitchFamily="34" charset="-120"/>
              </a:rPr>
              <a:t>Lack of optimisation that balances SLAs and energy goals.</a:t>
            </a:r>
            <a:endParaRPr lang="en-US" sz="1200" dirty="0"/>
          </a:p>
        </p:txBody>
      </p:sp>
      <p:sp>
        <p:nvSpPr>
          <p:cNvPr id="6" name="Text 3">
            <a:extLst>
              <a:ext uri="{FF2B5EF4-FFF2-40B4-BE49-F238E27FC236}">
                <a16:creationId xmlns:a16="http://schemas.microsoft.com/office/drawing/2014/main" id="{9BF39E83-8F69-1690-C525-7B8018A5CC1D}"/>
              </a:ext>
            </a:extLst>
          </p:cNvPr>
          <p:cNvSpPr/>
          <p:nvPr/>
        </p:nvSpPr>
        <p:spPr>
          <a:xfrm>
            <a:off x="3969023" y="3445297"/>
            <a:ext cx="4634954" cy="49381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33000"/>
              </a:lnSpc>
              <a:buNone/>
            </a:pPr>
            <a:r>
              <a:rPr lang="en-US" sz="1200" dirty="0">
                <a:solidFill>
                  <a:srgbClr val="383838"/>
                </a:solidFill>
                <a:latin typeface="Patrick Hand" pitchFamily="34" charset="0"/>
                <a:ea typeface="Patrick Hand" pitchFamily="34" charset="-122"/>
                <a:cs typeface="Patrick Hand" pitchFamily="34" charset="-120"/>
              </a:rPr>
              <a:t> Current systems use heuristic or manual policies — they need AI-enabled, energy-aware placement and continuous monitoring to improve efficiency.</a:t>
            </a:r>
            <a:endParaRPr lang="en-US" sz="1200" dirty="0"/>
          </a:p>
        </p:txBody>
      </p:sp>
    </p:spTree>
    <p:extLst>
      <p:ext uri="{BB962C8B-B14F-4D97-AF65-F5344CB8AC3E}">
        <p14:creationId xmlns:p14="http://schemas.microsoft.com/office/powerpoint/2010/main" val="3235259497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0023" y="466279"/>
            <a:ext cx="8063954" cy="32541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2050" dirty="0">
                <a:solidFill>
                  <a:srgbClr val="383838"/>
                </a:solidFill>
                <a:latin typeface="Patrick Hand" pitchFamily="34" charset="0"/>
                <a:ea typeface="Patrick Hand" pitchFamily="34" charset="-122"/>
                <a:cs typeface="Patrick Hand" pitchFamily="34" charset="-120"/>
              </a:rPr>
              <a:t>Project Objectives</a:t>
            </a:r>
            <a:endParaRPr lang="en-US" sz="2050" dirty="0"/>
          </a:p>
        </p:txBody>
      </p:sp>
      <p:pic>
        <p:nvPicPr>
          <p:cNvPr id="3" name="Image 0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540023" y="1011362"/>
            <a:ext cx="325487" cy="325487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540023" y="1474143"/>
            <a:ext cx="2596455" cy="16274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000" dirty="0">
                <a:solidFill>
                  <a:srgbClr val="383838"/>
                </a:solidFill>
                <a:latin typeface="Patrick Hand" pitchFamily="34" charset="0"/>
                <a:ea typeface="Patrick Hand" pitchFamily="34" charset="-122"/>
                <a:cs typeface="Patrick Hand" pitchFamily="34" charset="-120"/>
              </a:rPr>
              <a:t>Intelligent VM Placement</a:t>
            </a:r>
            <a:endParaRPr lang="en-US" sz="1000" dirty="0"/>
          </a:p>
        </p:txBody>
      </p:sp>
      <p:sp>
        <p:nvSpPr>
          <p:cNvPr id="5" name="Text 2"/>
          <p:cNvSpPr/>
          <p:nvPr/>
        </p:nvSpPr>
        <p:spPr>
          <a:xfrm>
            <a:off x="540023" y="1702743"/>
            <a:ext cx="2596455" cy="38412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23000"/>
              </a:lnSpc>
              <a:buNone/>
            </a:pPr>
            <a:r>
              <a:rPr lang="en-US" sz="1000" dirty="0">
                <a:solidFill>
                  <a:srgbClr val="383838"/>
                </a:solidFill>
                <a:latin typeface="Patrick Hand" pitchFamily="34" charset="0"/>
                <a:ea typeface="Patrick Hand" pitchFamily="34" charset="-122"/>
                <a:cs typeface="Patrick Hand" pitchFamily="34" charset="-120"/>
              </a:rPr>
              <a:t>Automated placement decisions using host scoring and AI.</a:t>
            </a:r>
            <a:endParaRPr lang="en-US" sz="1000" dirty="0"/>
          </a:p>
        </p:txBody>
      </p:sp>
      <p:pic>
        <p:nvPicPr>
          <p:cNvPr id="6" name="Image 1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3273772" y="1011362"/>
            <a:ext cx="325487" cy="325487"/>
          </a:xfrm>
          <a:prstGeom prst="rect">
            <a:avLst/>
          </a:prstGeom>
        </p:spPr>
      </p:pic>
      <p:sp>
        <p:nvSpPr>
          <p:cNvPr id="7" name="Text 3"/>
          <p:cNvSpPr/>
          <p:nvPr/>
        </p:nvSpPr>
        <p:spPr>
          <a:xfrm>
            <a:off x="3273772" y="1474143"/>
            <a:ext cx="2596455" cy="16274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000" dirty="0">
                <a:solidFill>
                  <a:srgbClr val="383838"/>
                </a:solidFill>
                <a:latin typeface="Patrick Hand" pitchFamily="34" charset="0"/>
                <a:ea typeface="Patrick Hand" pitchFamily="34" charset="-122"/>
                <a:cs typeface="Patrick Hand" pitchFamily="34" charset="-120"/>
              </a:rPr>
              <a:t>Energy-aware Scheduling</a:t>
            </a:r>
            <a:endParaRPr lang="en-US" sz="1000" dirty="0"/>
          </a:p>
        </p:txBody>
      </p:sp>
      <p:sp>
        <p:nvSpPr>
          <p:cNvPr id="8" name="Text 4"/>
          <p:cNvSpPr/>
          <p:nvPr/>
        </p:nvSpPr>
        <p:spPr>
          <a:xfrm>
            <a:off x="3273772" y="1702743"/>
            <a:ext cx="2596455" cy="38412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23000"/>
              </a:lnSpc>
              <a:buNone/>
            </a:pPr>
            <a:r>
              <a:rPr lang="en-US" sz="1000" dirty="0">
                <a:solidFill>
                  <a:srgbClr val="383838"/>
                </a:solidFill>
                <a:latin typeface="Patrick Hand" pitchFamily="34" charset="0"/>
                <a:ea typeface="Patrick Hand" pitchFamily="34" charset="-122"/>
                <a:cs typeface="Patrick Hand" pitchFamily="34" charset="-120"/>
              </a:rPr>
              <a:t>Minimise power use while meeting performance targets.</a:t>
            </a:r>
            <a:endParaRPr lang="en-US" sz="1000" dirty="0"/>
          </a:p>
        </p:txBody>
      </p:sp>
      <p:pic>
        <p:nvPicPr>
          <p:cNvPr id="9" name="Image 2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6007522" y="1011362"/>
            <a:ext cx="325487" cy="325487"/>
          </a:xfrm>
          <a:prstGeom prst="rect">
            <a:avLst/>
          </a:prstGeom>
        </p:spPr>
      </p:pic>
      <p:sp>
        <p:nvSpPr>
          <p:cNvPr id="10" name="Text 5"/>
          <p:cNvSpPr/>
          <p:nvPr/>
        </p:nvSpPr>
        <p:spPr>
          <a:xfrm>
            <a:off x="6007522" y="1474143"/>
            <a:ext cx="2596455" cy="16274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000" dirty="0">
                <a:solidFill>
                  <a:srgbClr val="383838"/>
                </a:solidFill>
                <a:latin typeface="Patrick Hand" pitchFamily="34" charset="0"/>
                <a:ea typeface="Patrick Hand" pitchFamily="34" charset="-122"/>
                <a:cs typeface="Patrick Hand" pitchFamily="34" charset="-120"/>
              </a:rPr>
              <a:t>Real-time Monitoring</a:t>
            </a:r>
            <a:endParaRPr lang="en-US" sz="1000" dirty="0"/>
          </a:p>
        </p:txBody>
      </p:sp>
      <p:sp>
        <p:nvSpPr>
          <p:cNvPr id="11" name="Text 6"/>
          <p:cNvSpPr/>
          <p:nvPr/>
        </p:nvSpPr>
        <p:spPr>
          <a:xfrm>
            <a:off x="6007522" y="1702743"/>
            <a:ext cx="2596455" cy="19206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23000"/>
              </a:lnSpc>
              <a:buNone/>
            </a:pPr>
            <a:r>
              <a:rPr lang="en-US" sz="1000" dirty="0">
                <a:solidFill>
                  <a:srgbClr val="383838"/>
                </a:solidFill>
                <a:latin typeface="Patrick Hand" pitchFamily="34" charset="0"/>
                <a:ea typeface="Patrick Hand" pitchFamily="34" charset="-122"/>
                <a:cs typeface="Patrick Hand" pitchFamily="34" charset="-120"/>
              </a:rPr>
              <a:t>Live dashboards for hosts, VMs and cloudlets.</a:t>
            </a:r>
            <a:endParaRPr lang="en-US" sz="1000" dirty="0"/>
          </a:p>
        </p:txBody>
      </p:sp>
      <p:pic>
        <p:nvPicPr>
          <p:cNvPr id="12" name="Image 3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>
            <a:off x="540023" y="2306538"/>
            <a:ext cx="325487" cy="325487"/>
          </a:xfrm>
          <a:prstGeom prst="rect">
            <a:avLst/>
          </a:prstGeom>
        </p:spPr>
      </p:pic>
      <p:sp>
        <p:nvSpPr>
          <p:cNvPr id="13" name="Text 7"/>
          <p:cNvSpPr/>
          <p:nvPr/>
        </p:nvSpPr>
        <p:spPr>
          <a:xfrm>
            <a:off x="540023" y="2769319"/>
            <a:ext cx="2596455" cy="16274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000" dirty="0">
                <a:solidFill>
                  <a:srgbClr val="383838"/>
                </a:solidFill>
                <a:latin typeface="Patrick Hand" pitchFamily="34" charset="0"/>
                <a:ea typeface="Patrick Hand" pitchFamily="34" charset="-122"/>
                <a:cs typeface="Patrick Hand" pitchFamily="34" charset="-120"/>
              </a:rPr>
              <a:t>AI-based Optimization</a:t>
            </a:r>
            <a:endParaRPr lang="en-US" sz="1000" dirty="0"/>
          </a:p>
        </p:txBody>
      </p:sp>
      <p:sp>
        <p:nvSpPr>
          <p:cNvPr id="14" name="Text 8"/>
          <p:cNvSpPr/>
          <p:nvPr/>
        </p:nvSpPr>
        <p:spPr>
          <a:xfrm>
            <a:off x="540023" y="2997919"/>
            <a:ext cx="2596455" cy="38412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23000"/>
              </a:lnSpc>
              <a:buNone/>
            </a:pPr>
            <a:r>
              <a:rPr lang="en-US" sz="1000" dirty="0">
                <a:solidFill>
                  <a:srgbClr val="383838"/>
                </a:solidFill>
                <a:latin typeface="Patrick Hand" pitchFamily="34" charset="0"/>
                <a:ea typeface="Patrick Hand" pitchFamily="34" charset="-122"/>
                <a:cs typeface="Patrick Hand" pitchFamily="34" charset="-120"/>
              </a:rPr>
              <a:t>Adaptive models for placement, migration and consolidation.</a:t>
            </a:r>
            <a:endParaRPr lang="en-US" sz="1000" dirty="0"/>
          </a:p>
        </p:txBody>
      </p:sp>
      <p:pic>
        <p:nvPicPr>
          <p:cNvPr id="15" name="Image 4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7"/>
              </a:ext>
            </a:extLst>
          </a:blip>
          <a:stretch>
            <a:fillRect/>
          </a:stretch>
        </p:blipFill>
        <p:spPr>
          <a:xfrm>
            <a:off x="3273772" y="2306538"/>
            <a:ext cx="325487" cy="325487"/>
          </a:xfrm>
          <a:prstGeom prst="rect">
            <a:avLst/>
          </a:prstGeom>
        </p:spPr>
      </p:pic>
      <p:sp>
        <p:nvSpPr>
          <p:cNvPr id="16" name="Text 9"/>
          <p:cNvSpPr/>
          <p:nvPr/>
        </p:nvSpPr>
        <p:spPr>
          <a:xfrm>
            <a:off x="3273772" y="2769319"/>
            <a:ext cx="2596455" cy="16274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000" dirty="0">
                <a:solidFill>
                  <a:srgbClr val="383838"/>
                </a:solidFill>
                <a:latin typeface="Patrick Hand" pitchFamily="34" charset="0"/>
                <a:ea typeface="Patrick Hand" pitchFamily="34" charset="-122"/>
                <a:cs typeface="Patrick Hand" pitchFamily="34" charset="-120"/>
              </a:rPr>
              <a:t>Resource Utilisation Analysis</a:t>
            </a:r>
            <a:endParaRPr lang="en-US" sz="1000" dirty="0"/>
          </a:p>
        </p:txBody>
      </p:sp>
      <p:sp>
        <p:nvSpPr>
          <p:cNvPr id="17" name="Text 10"/>
          <p:cNvSpPr/>
          <p:nvPr/>
        </p:nvSpPr>
        <p:spPr>
          <a:xfrm>
            <a:off x="3273772" y="2997919"/>
            <a:ext cx="2596455" cy="38412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23000"/>
              </a:lnSpc>
              <a:buNone/>
            </a:pPr>
            <a:r>
              <a:rPr lang="en-US" sz="1000" dirty="0">
                <a:solidFill>
                  <a:srgbClr val="383838"/>
                </a:solidFill>
                <a:latin typeface="Patrick Hand" pitchFamily="34" charset="0"/>
                <a:ea typeface="Patrick Hand" pitchFamily="34" charset="-122"/>
                <a:cs typeface="Patrick Hand" pitchFamily="34" charset="-120"/>
              </a:rPr>
              <a:t>Host ranking, utilisation trends and CSV exports for research.</a:t>
            </a:r>
            <a:endParaRPr lang="en-US" sz="1000" dirty="0"/>
          </a:p>
        </p:txBody>
      </p:sp>
      <p:pic>
        <p:nvPicPr>
          <p:cNvPr id="18" name="Image 5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8"/>
              </a:ext>
            </a:extLst>
          </a:blip>
          <a:stretch>
            <a:fillRect/>
          </a:stretch>
        </p:blipFill>
        <p:spPr>
          <a:xfrm>
            <a:off x="6007522" y="2306538"/>
            <a:ext cx="325487" cy="325487"/>
          </a:xfrm>
          <a:prstGeom prst="rect">
            <a:avLst/>
          </a:prstGeom>
        </p:spPr>
      </p:pic>
      <p:sp>
        <p:nvSpPr>
          <p:cNvPr id="19" name="Text 11"/>
          <p:cNvSpPr/>
          <p:nvPr/>
        </p:nvSpPr>
        <p:spPr>
          <a:xfrm>
            <a:off x="6007522" y="2769319"/>
            <a:ext cx="2596455" cy="16274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000" dirty="0">
                <a:solidFill>
                  <a:srgbClr val="383838"/>
                </a:solidFill>
                <a:latin typeface="Patrick Hand" pitchFamily="34" charset="0"/>
                <a:ea typeface="Patrick Hand" pitchFamily="34" charset="-122"/>
                <a:cs typeface="Patrick Hand" pitchFamily="34" charset="-120"/>
              </a:rPr>
              <a:t>SLA Improvement</a:t>
            </a:r>
            <a:endParaRPr lang="en-US" sz="1000" dirty="0"/>
          </a:p>
        </p:txBody>
      </p:sp>
      <p:sp>
        <p:nvSpPr>
          <p:cNvPr id="20" name="Text 12"/>
          <p:cNvSpPr/>
          <p:nvPr/>
        </p:nvSpPr>
        <p:spPr>
          <a:xfrm>
            <a:off x="6007522" y="2997919"/>
            <a:ext cx="2596455" cy="38412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23000"/>
              </a:lnSpc>
              <a:buNone/>
            </a:pPr>
            <a:r>
              <a:rPr lang="en-US" sz="1000" dirty="0">
                <a:solidFill>
                  <a:srgbClr val="383838"/>
                </a:solidFill>
                <a:latin typeface="Patrick Hand" pitchFamily="34" charset="0"/>
                <a:ea typeface="Patrick Hand" pitchFamily="34" charset="-122"/>
                <a:cs typeface="Patrick Hand" pitchFamily="34" charset="-120"/>
              </a:rPr>
              <a:t>Balance QoS with energy reduction using SLA-aware heuristics.</a:t>
            </a:r>
            <a:endParaRPr lang="en-US" sz="1000" dirty="0"/>
          </a:p>
        </p:txBody>
      </p:sp>
      <p:pic>
        <p:nvPicPr>
          <p:cNvPr id="21" name="Image 6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9"/>
              </a:ext>
            </a:extLst>
          </a:blip>
          <a:stretch>
            <a:fillRect/>
          </a:stretch>
        </p:blipFill>
        <p:spPr>
          <a:xfrm>
            <a:off x="540023" y="3601715"/>
            <a:ext cx="325487" cy="325487"/>
          </a:xfrm>
          <a:prstGeom prst="rect">
            <a:avLst/>
          </a:prstGeom>
        </p:spPr>
      </p:pic>
      <p:sp>
        <p:nvSpPr>
          <p:cNvPr id="22" name="Text 13"/>
          <p:cNvSpPr/>
          <p:nvPr/>
        </p:nvSpPr>
        <p:spPr>
          <a:xfrm>
            <a:off x="540023" y="4064496"/>
            <a:ext cx="2596455" cy="16274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000" dirty="0">
                <a:solidFill>
                  <a:srgbClr val="383838"/>
                </a:solidFill>
                <a:latin typeface="Patrick Hand" pitchFamily="34" charset="0"/>
                <a:ea typeface="Patrick Hand" pitchFamily="34" charset="-122"/>
                <a:cs typeface="Patrick Hand" pitchFamily="34" charset="-120"/>
              </a:rPr>
              <a:t>Future-ready Architecture</a:t>
            </a:r>
            <a:endParaRPr lang="en-US" sz="1000" dirty="0"/>
          </a:p>
        </p:txBody>
      </p:sp>
      <p:sp>
        <p:nvSpPr>
          <p:cNvPr id="23" name="Text 14"/>
          <p:cNvSpPr/>
          <p:nvPr/>
        </p:nvSpPr>
        <p:spPr>
          <a:xfrm>
            <a:off x="540023" y="4293096"/>
            <a:ext cx="2596455" cy="38412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23000"/>
              </a:lnSpc>
              <a:buNone/>
            </a:pPr>
            <a:r>
              <a:rPr lang="en-US" sz="1000" dirty="0">
                <a:solidFill>
                  <a:srgbClr val="383838"/>
                </a:solidFill>
                <a:latin typeface="Patrick Hand" pitchFamily="34" charset="0"/>
                <a:ea typeface="Patrick Hand" pitchFamily="34" charset="-122"/>
                <a:cs typeface="Patrick Hand" pitchFamily="34" charset="-120"/>
              </a:rPr>
              <a:t>Modular design for extension to containers and multi-datacentre.</a:t>
            </a:r>
            <a:endParaRPr lang="en-US" sz="10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" name="Picture 9">
            <a:extLst>
              <a:ext uri="{FF2B5EF4-FFF2-40B4-BE49-F238E27FC236}">
                <a16:creationId xmlns:a16="http://schemas.microsoft.com/office/drawing/2014/main" id="{CD565954-5C0A-CE03-FB6C-4ADDCDCD7CC6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04910" y="4103"/>
            <a:ext cx="7709095" cy="5139397"/>
          </a:xfrm>
          <a:prstGeom prst="rect">
            <a:avLst/>
          </a:prstGeom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0023" y="1040606"/>
            <a:ext cx="8063954" cy="38568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2400" dirty="0">
                <a:solidFill>
                  <a:srgbClr val="383838"/>
                </a:solidFill>
                <a:latin typeface="Patrick Hand" pitchFamily="34" charset="0"/>
                <a:ea typeface="Patrick Hand" pitchFamily="34" charset="-122"/>
                <a:cs typeface="Patrick Hand" pitchFamily="34" charset="-120"/>
              </a:rPr>
              <a:t>Module 1 — Cloud Simulation Core</a:t>
            </a:r>
            <a:endParaRPr lang="en-US" sz="2400" dirty="0"/>
          </a:p>
        </p:txBody>
      </p:sp>
      <p:sp>
        <p:nvSpPr>
          <p:cNvPr id="3" name="Shape 1"/>
          <p:cNvSpPr/>
          <p:nvPr/>
        </p:nvSpPr>
        <p:spPr>
          <a:xfrm>
            <a:off x="540023" y="1734889"/>
            <a:ext cx="2585145" cy="1106835"/>
          </a:xfrm>
          <a:prstGeom prst="roundRect">
            <a:avLst>
              <a:gd name="adj" fmla="val 5855"/>
            </a:avLst>
          </a:prstGeom>
          <a:solidFill>
            <a:srgbClr val="E6E6E6"/>
          </a:solidFill>
          <a:ln w="9525">
            <a:solidFill>
              <a:srgbClr val="CCCCCC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703808" y="1898675"/>
            <a:ext cx="2257574" cy="19288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200" dirty="0">
                <a:solidFill>
                  <a:srgbClr val="383838"/>
                </a:solidFill>
                <a:latin typeface="Patrick Hand" pitchFamily="34" charset="0"/>
                <a:ea typeface="Patrick Hand" pitchFamily="34" charset="-122"/>
                <a:cs typeface="Patrick Hand" pitchFamily="34" charset="-120"/>
              </a:rPr>
              <a:t>Datacenter &amp; Host Creation</a:t>
            </a:r>
            <a:endParaRPr lang="en-US" sz="1200" dirty="0"/>
          </a:p>
        </p:txBody>
      </p:sp>
      <p:sp>
        <p:nvSpPr>
          <p:cNvPr id="5" name="Text 3"/>
          <p:cNvSpPr/>
          <p:nvPr/>
        </p:nvSpPr>
        <p:spPr>
          <a:xfrm>
            <a:off x="703808" y="2184127"/>
            <a:ext cx="2257574" cy="49381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33000"/>
              </a:lnSpc>
              <a:buNone/>
            </a:pPr>
            <a:r>
              <a:rPr lang="en-US" sz="1200" dirty="0">
                <a:solidFill>
                  <a:srgbClr val="383838"/>
                </a:solidFill>
                <a:latin typeface="Patrick Hand" pitchFamily="34" charset="0"/>
                <a:ea typeface="Patrick Hand" pitchFamily="34" charset="-122"/>
                <a:cs typeface="Patrick Hand" pitchFamily="34" charset="-120"/>
              </a:rPr>
              <a:t>Define host hardware, power models and network topology.</a:t>
            </a:r>
            <a:endParaRPr lang="en-US" sz="1200" dirty="0"/>
          </a:p>
        </p:txBody>
      </p:sp>
      <p:sp>
        <p:nvSpPr>
          <p:cNvPr id="6" name="Shape 4"/>
          <p:cNvSpPr/>
          <p:nvPr/>
        </p:nvSpPr>
        <p:spPr>
          <a:xfrm>
            <a:off x="3279428" y="1734889"/>
            <a:ext cx="2585145" cy="1106835"/>
          </a:xfrm>
          <a:prstGeom prst="roundRect">
            <a:avLst>
              <a:gd name="adj" fmla="val 5855"/>
            </a:avLst>
          </a:prstGeom>
          <a:solidFill>
            <a:srgbClr val="E6E6E6"/>
          </a:solidFill>
          <a:ln w="9525">
            <a:solidFill>
              <a:srgbClr val="CCCCCC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3443213" y="1898675"/>
            <a:ext cx="2257574" cy="19288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200" dirty="0">
                <a:solidFill>
                  <a:srgbClr val="383838"/>
                </a:solidFill>
                <a:latin typeface="Patrick Hand" pitchFamily="34" charset="0"/>
                <a:ea typeface="Patrick Hand" pitchFamily="34" charset="-122"/>
                <a:cs typeface="Patrick Hand" pitchFamily="34" charset="-120"/>
              </a:rPr>
              <a:t>VM &amp; Cloudlet Construction</a:t>
            </a:r>
            <a:endParaRPr lang="en-US" sz="1200" dirty="0"/>
          </a:p>
        </p:txBody>
      </p:sp>
      <p:sp>
        <p:nvSpPr>
          <p:cNvPr id="8" name="Text 6"/>
          <p:cNvSpPr/>
          <p:nvPr/>
        </p:nvSpPr>
        <p:spPr>
          <a:xfrm>
            <a:off x="3443213" y="2184127"/>
            <a:ext cx="2257574" cy="49381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33000"/>
              </a:lnSpc>
              <a:buNone/>
            </a:pPr>
            <a:r>
              <a:rPr lang="en-US" sz="1200" dirty="0">
                <a:solidFill>
                  <a:srgbClr val="383838"/>
                </a:solidFill>
                <a:latin typeface="Patrick Hand" pitchFamily="34" charset="0"/>
                <a:ea typeface="Patrick Hand" pitchFamily="34" charset="-122"/>
                <a:cs typeface="Patrick Hand" pitchFamily="34" charset="-120"/>
              </a:rPr>
              <a:t>Instantiate VM profiles and workload (cloudlets) for experiments.</a:t>
            </a:r>
            <a:endParaRPr lang="en-US" sz="1200" dirty="0"/>
          </a:p>
        </p:txBody>
      </p:sp>
      <p:sp>
        <p:nvSpPr>
          <p:cNvPr id="9" name="Shape 7"/>
          <p:cNvSpPr/>
          <p:nvPr/>
        </p:nvSpPr>
        <p:spPr>
          <a:xfrm>
            <a:off x="6018833" y="1734889"/>
            <a:ext cx="2585145" cy="1106835"/>
          </a:xfrm>
          <a:prstGeom prst="roundRect">
            <a:avLst>
              <a:gd name="adj" fmla="val 5855"/>
            </a:avLst>
          </a:prstGeom>
          <a:solidFill>
            <a:srgbClr val="E6E6E6"/>
          </a:solidFill>
          <a:ln w="9525">
            <a:solidFill>
              <a:srgbClr val="CCCCCC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6182618" y="1898675"/>
            <a:ext cx="2257574" cy="19288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200" dirty="0">
                <a:solidFill>
                  <a:srgbClr val="383838"/>
                </a:solidFill>
                <a:latin typeface="Patrick Hand" pitchFamily="34" charset="0"/>
                <a:ea typeface="Patrick Hand" pitchFamily="34" charset="-122"/>
                <a:cs typeface="Patrick Hand" pitchFamily="34" charset="-120"/>
              </a:rPr>
              <a:t>Resource Validation</a:t>
            </a:r>
            <a:endParaRPr lang="en-US" sz="1200" dirty="0"/>
          </a:p>
        </p:txBody>
      </p:sp>
      <p:sp>
        <p:nvSpPr>
          <p:cNvPr id="11" name="Text 9"/>
          <p:cNvSpPr/>
          <p:nvPr/>
        </p:nvSpPr>
        <p:spPr>
          <a:xfrm>
            <a:off x="6182618" y="2184127"/>
            <a:ext cx="2257574" cy="49381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33000"/>
              </a:lnSpc>
              <a:buNone/>
            </a:pPr>
            <a:r>
              <a:rPr lang="en-US" sz="1200" dirty="0">
                <a:solidFill>
                  <a:srgbClr val="383838"/>
                </a:solidFill>
                <a:latin typeface="Patrick Hand" pitchFamily="34" charset="0"/>
                <a:ea typeface="Patrick Hand" pitchFamily="34" charset="-122"/>
                <a:cs typeface="Patrick Hand" pitchFamily="34" charset="-120"/>
              </a:rPr>
              <a:t>Pre-simulation checks for resource capacities and constraints.</a:t>
            </a:r>
            <a:endParaRPr lang="en-US" sz="1200" dirty="0"/>
          </a:p>
        </p:txBody>
      </p:sp>
      <p:sp>
        <p:nvSpPr>
          <p:cNvPr id="12" name="Shape 10"/>
          <p:cNvSpPr/>
          <p:nvPr/>
        </p:nvSpPr>
        <p:spPr>
          <a:xfrm>
            <a:off x="540023" y="2995985"/>
            <a:ext cx="3954810" cy="1106835"/>
          </a:xfrm>
          <a:prstGeom prst="roundRect">
            <a:avLst>
              <a:gd name="adj" fmla="val 5855"/>
            </a:avLst>
          </a:prstGeom>
          <a:solidFill>
            <a:srgbClr val="E6E6E6"/>
          </a:solidFill>
          <a:ln w="9525">
            <a:solidFill>
              <a:srgbClr val="CCCCCC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703808" y="3159770"/>
            <a:ext cx="3627239" cy="19288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200" dirty="0">
                <a:solidFill>
                  <a:srgbClr val="383838"/>
                </a:solidFill>
                <a:latin typeface="Patrick Hand" pitchFamily="34" charset="0"/>
                <a:ea typeface="Patrick Hand" pitchFamily="34" charset="-122"/>
                <a:cs typeface="Patrick Hand" pitchFamily="34" charset="-120"/>
              </a:rPr>
              <a:t>Simulation Execution &amp; Event Logger</a:t>
            </a:r>
            <a:endParaRPr lang="en-US" sz="1200" dirty="0"/>
          </a:p>
        </p:txBody>
      </p:sp>
      <p:sp>
        <p:nvSpPr>
          <p:cNvPr id="14" name="Text 12"/>
          <p:cNvSpPr/>
          <p:nvPr/>
        </p:nvSpPr>
        <p:spPr>
          <a:xfrm>
            <a:off x="703808" y="3445222"/>
            <a:ext cx="3627239" cy="24690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33000"/>
              </a:lnSpc>
              <a:buNone/>
            </a:pPr>
            <a:r>
              <a:rPr lang="en-US" sz="1200" dirty="0">
                <a:solidFill>
                  <a:srgbClr val="383838"/>
                </a:solidFill>
                <a:latin typeface="Patrick Hand" pitchFamily="34" charset="0"/>
                <a:ea typeface="Patrick Hand" pitchFamily="34" charset="-122"/>
                <a:cs typeface="Patrick Hand" pitchFamily="34" charset="-120"/>
              </a:rPr>
              <a:t>Time-ordered events, logs and performance traces for analysis.</a:t>
            </a:r>
            <a:endParaRPr lang="en-US" sz="1200" dirty="0"/>
          </a:p>
        </p:txBody>
      </p:sp>
      <p:sp>
        <p:nvSpPr>
          <p:cNvPr id="15" name="Shape 13"/>
          <p:cNvSpPr/>
          <p:nvPr/>
        </p:nvSpPr>
        <p:spPr>
          <a:xfrm>
            <a:off x="4649093" y="2995985"/>
            <a:ext cx="3954884" cy="1106835"/>
          </a:xfrm>
          <a:prstGeom prst="roundRect">
            <a:avLst>
              <a:gd name="adj" fmla="val 5855"/>
            </a:avLst>
          </a:prstGeom>
          <a:solidFill>
            <a:srgbClr val="E6E6E6"/>
          </a:solidFill>
          <a:ln w="9525">
            <a:solidFill>
              <a:srgbClr val="CCCCCC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4812878" y="3159770"/>
            <a:ext cx="3627313" cy="19288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200" dirty="0">
                <a:solidFill>
                  <a:srgbClr val="383838"/>
                </a:solidFill>
                <a:latin typeface="Patrick Hand" pitchFamily="34" charset="0"/>
                <a:ea typeface="Patrick Hand" pitchFamily="34" charset="-122"/>
                <a:cs typeface="Patrick Hand" pitchFamily="34" charset="-120"/>
              </a:rPr>
              <a:t>CSV Report Generator</a:t>
            </a:r>
            <a:endParaRPr lang="en-US" sz="1200" dirty="0"/>
          </a:p>
        </p:txBody>
      </p:sp>
      <p:sp>
        <p:nvSpPr>
          <p:cNvPr id="17" name="Text 15"/>
          <p:cNvSpPr/>
          <p:nvPr/>
        </p:nvSpPr>
        <p:spPr>
          <a:xfrm>
            <a:off x="4812878" y="3445222"/>
            <a:ext cx="3627313" cy="49381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33000"/>
              </a:lnSpc>
              <a:buNone/>
            </a:pPr>
            <a:r>
              <a:rPr lang="en-US" sz="1200" dirty="0">
                <a:solidFill>
                  <a:srgbClr val="383838"/>
                </a:solidFill>
                <a:latin typeface="Patrick Hand" pitchFamily="34" charset="0"/>
                <a:ea typeface="Patrick Hand" pitchFamily="34" charset="-122"/>
                <a:cs typeface="Patrick Hand" pitchFamily="34" charset="-120"/>
              </a:rPr>
              <a:t>Export metrics (utilisation, energy, migrations) for post-processing.</a:t>
            </a:r>
            <a:endParaRPr lang="en-US" sz="12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40023" y="860896"/>
            <a:ext cx="3421707" cy="3421707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4342879" y="1499369"/>
            <a:ext cx="4265786" cy="30859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900" dirty="0">
                <a:solidFill>
                  <a:srgbClr val="383838"/>
                </a:solidFill>
                <a:latin typeface="Patrick Hand" pitchFamily="34" charset="0"/>
                <a:ea typeface="Patrick Hand" pitchFamily="34" charset="-122"/>
                <a:cs typeface="Patrick Hand" pitchFamily="34" charset="-120"/>
              </a:rPr>
              <a:t>Module 2 — Real-Time Monitoring System</a:t>
            </a:r>
            <a:endParaRPr lang="en-US" sz="1900" dirty="0"/>
          </a:p>
        </p:txBody>
      </p:sp>
      <p:sp>
        <p:nvSpPr>
          <p:cNvPr id="4" name="Text 1"/>
          <p:cNvSpPr/>
          <p:nvPr/>
        </p:nvSpPr>
        <p:spPr>
          <a:xfrm>
            <a:off x="4342879" y="1962224"/>
            <a:ext cx="4265786" cy="49381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33000"/>
              </a:lnSpc>
              <a:buNone/>
            </a:pPr>
            <a:r>
              <a:rPr lang="en-US" sz="1200" dirty="0">
                <a:solidFill>
                  <a:srgbClr val="383838"/>
                </a:solidFill>
                <a:latin typeface="Patrick Hand" pitchFamily="34" charset="0"/>
                <a:ea typeface="Patrick Hand" pitchFamily="34" charset="-122"/>
                <a:cs typeface="Patrick Hand" pitchFamily="34" charset="-120"/>
              </a:rPr>
              <a:t>         A dashboard-style monitoring console providing continuous visibility         into host, VM and cloudlet behaviour with time-series charts and alerts.       </a:t>
            </a:r>
            <a:endParaRPr lang="en-US" sz="1200" dirty="0"/>
          </a:p>
        </p:txBody>
      </p:sp>
      <p:sp>
        <p:nvSpPr>
          <p:cNvPr id="5" name="Text 2"/>
          <p:cNvSpPr/>
          <p:nvPr/>
        </p:nvSpPr>
        <p:spPr>
          <a:xfrm>
            <a:off x="4342879" y="2594893"/>
            <a:ext cx="4265786" cy="114947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243840" indent="-243840" algn="l">
              <a:lnSpc>
                <a:spcPct val="133000"/>
              </a:lnSpc>
              <a:buSzPct val="100000"/>
              <a:buChar char="•"/>
            </a:pPr>
            <a:r>
              <a:rPr lang="en-US" sz="1200" dirty="0">
                <a:solidFill>
                  <a:srgbClr val="383838"/>
                </a:solidFill>
                <a:latin typeface="Patrick Hand" pitchFamily="34" charset="0"/>
                <a:ea typeface="Patrick Hand" pitchFamily="34" charset="-122"/>
                <a:cs typeface="Patrick Hand" pitchFamily="34" charset="-120"/>
              </a:rPr>
              <a:t>Live Monitoring Console &amp; Resource Snapshots</a:t>
            </a:r>
            <a:endParaRPr lang="en-US" sz="1200" dirty="0"/>
          </a:p>
          <a:p>
            <a:pPr marL="243840" indent="-243840" algn="l">
              <a:lnSpc>
                <a:spcPct val="133000"/>
              </a:lnSpc>
              <a:buSzPct val="100000"/>
              <a:buChar char="•"/>
            </a:pPr>
            <a:r>
              <a:rPr lang="en-US" sz="1200" dirty="0">
                <a:solidFill>
                  <a:srgbClr val="383838"/>
                </a:solidFill>
                <a:latin typeface="Patrick Hand" pitchFamily="34" charset="0"/>
                <a:ea typeface="Patrick Hand" pitchFamily="34" charset="-122"/>
                <a:cs typeface="Patrick Hand" pitchFamily="34" charset="-120"/>
              </a:rPr>
              <a:t>Host / VM / Cloudlet Monitoring (CPU, RAM, Bandwidth, Storage)</a:t>
            </a:r>
            <a:endParaRPr lang="en-US" sz="1200" dirty="0"/>
          </a:p>
          <a:p>
            <a:pPr marL="243840" indent="-243840" algn="l">
              <a:lnSpc>
                <a:spcPct val="133000"/>
              </a:lnSpc>
              <a:buSzPct val="100000"/>
              <a:buChar char="•"/>
            </a:pPr>
            <a:r>
              <a:rPr lang="en-US" sz="1200" dirty="0">
                <a:solidFill>
                  <a:srgbClr val="383838"/>
                </a:solidFill>
                <a:latin typeface="Patrick Hand" pitchFamily="34" charset="0"/>
                <a:ea typeface="Patrick Hand" pitchFamily="34" charset="-122"/>
                <a:cs typeface="Patrick Hand" pitchFamily="34" charset="-120"/>
              </a:rPr>
              <a:t>Event Timeline &amp; Historical Metrics</a:t>
            </a:r>
            <a:endParaRPr lang="en-US" sz="1200" dirty="0"/>
          </a:p>
          <a:p>
            <a:pPr marL="243840" indent="-243840" algn="l">
              <a:lnSpc>
                <a:spcPct val="133000"/>
              </a:lnSpc>
              <a:buSzPct val="100000"/>
              <a:buChar char="•"/>
            </a:pPr>
            <a:r>
              <a:rPr lang="en-US" sz="1200" dirty="0">
                <a:solidFill>
                  <a:srgbClr val="383838"/>
                </a:solidFill>
                <a:latin typeface="Patrick Hand" pitchFamily="34" charset="0"/>
                <a:ea typeface="Patrick Hand" pitchFamily="34" charset="-122"/>
                <a:cs typeface="Patrick Hand" pitchFamily="34" charset="-120"/>
              </a:rPr>
              <a:t>Exportable CSV snapshots for analysis and reproducibility</a:t>
            </a:r>
            <a:endParaRPr lang="en-US" sz="12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0023" y="430337"/>
            <a:ext cx="8063954" cy="25315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550" dirty="0">
                <a:solidFill>
                  <a:srgbClr val="383838"/>
                </a:solidFill>
                <a:latin typeface="Patrick Hand" pitchFamily="34" charset="0"/>
                <a:ea typeface="Patrick Hand" pitchFamily="34" charset="-122"/>
                <a:cs typeface="Patrick Hand" pitchFamily="34" charset="-120"/>
              </a:rPr>
              <a:t>AI-Based Resource Optimization</a:t>
            </a:r>
            <a:endParaRPr lang="en-US" sz="1550" dirty="0"/>
          </a:p>
        </p:txBody>
      </p:sp>
      <p:pic>
        <p:nvPicPr>
          <p:cNvPr id="3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17575" y="816397"/>
            <a:ext cx="7708776" cy="3022104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902045" y="964607"/>
            <a:ext cx="1411189" cy="18143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r">
              <a:lnSpc>
                <a:spcPct val="104000"/>
              </a:lnSpc>
              <a:buNone/>
            </a:pPr>
            <a:r>
              <a:rPr lang="en-US" sz="1100" dirty="0">
                <a:solidFill>
                  <a:srgbClr val="383838"/>
                </a:solidFill>
                <a:latin typeface="Patrick Hand" pitchFamily="34" charset="0"/>
                <a:ea typeface="Patrick Hand" pitchFamily="34" charset="-122"/>
                <a:cs typeface="Patrick Hand" pitchFamily="34" charset="-120"/>
              </a:rPr>
              <a:t>Energy Analysis</a:t>
            </a:r>
            <a:endParaRPr lang="en-US" sz="1100" dirty="0"/>
          </a:p>
        </p:txBody>
      </p:sp>
      <p:sp>
        <p:nvSpPr>
          <p:cNvPr id="5" name="Text 2"/>
          <p:cNvSpPr/>
          <p:nvPr/>
        </p:nvSpPr>
        <p:spPr>
          <a:xfrm>
            <a:off x="6830552" y="964607"/>
            <a:ext cx="1411189" cy="18143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100" dirty="0">
                <a:solidFill>
                  <a:srgbClr val="383838"/>
                </a:solidFill>
                <a:latin typeface="Patrick Hand" pitchFamily="34" charset="0"/>
                <a:ea typeface="Patrick Hand" pitchFamily="34" charset="-122"/>
                <a:cs typeface="Patrick Hand" pitchFamily="34" charset="-120"/>
              </a:rPr>
              <a:t>AI VM Placement</a:t>
            </a:r>
            <a:endParaRPr lang="en-US" sz="1100" dirty="0"/>
          </a:p>
        </p:txBody>
      </p:sp>
      <p:sp>
        <p:nvSpPr>
          <p:cNvPr id="6" name="Text 3"/>
          <p:cNvSpPr/>
          <p:nvPr/>
        </p:nvSpPr>
        <p:spPr>
          <a:xfrm>
            <a:off x="6830552" y="3508779"/>
            <a:ext cx="1411189" cy="18143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100" dirty="0">
                <a:solidFill>
                  <a:srgbClr val="383838"/>
                </a:solidFill>
                <a:latin typeface="Patrick Hand" pitchFamily="34" charset="0"/>
                <a:ea typeface="Patrick Hand" pitchFamily="34" charset="-122"/>
                <a:cs typeface="Patrick Hand" pitchFamily="34" charset="-120"/>
              </a:rPr>
              <a:t>Migration Engine</a:t>
            </a:r>
            <a:endParaRPr lang="en-US" sz="1100" dirty="0"/>
          </a:p>
        </p:txBody>
      </p:sp>
      <p:sp>
        <p:nvSpPr>
          <p:cNvPr id="7" name="Text 4"/>
          <p:cNvSpPr/>
          <p:nvPr/>
        </p:nvSpPr>
        <p:spPr>
          <a:xfrm>
            <a:off x="902045" y="3508779"/>
            <a:ext cx="1411189" cy="18143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r">
              <a:lnSpc>
                <a:spcPct val="104000"/>
              </a:lnSpc>
              <a:buNone/>
            </a:pPr>
            <a:r>
              <a:rPr lang="en-US" sz="1100" dirty="0">
                <a:solidFill>
                  <a:srgbClr val="383838"/>
                </a:solidFill>
                <a:latin typeface="Patrick Hand" pitchFamily="34" charset="0"/>
                <a:ea typeface="Patrick Hand" pitchFamily="34" charset="-122"/>
                <a:cs typeface="Patrick Hand" pitchFamily="34" charset="-120"/>
              </a:rPr>
              <a:t>Optimization Engine</a:t>
            </a:r>
            <a:endParaRPr lang="en-US" sz="1100" dirty="0"/>
          </a:p>
        </p:txBody>
      </p:sp>
      <p:sp>
        <p:nvSpPr>
          <p:cNvPr id="8" name="Shape 5"/>
          <p:cNvSpPr/>
          <p:nvPr/>
        </p:nvSpPr>
        <p:spPr>
          <a:xfrm>
            <a:off x="540023" y="3913212"/>
            <a:ext cx="1966094" cy="799877"/>
          </a:xfrm>
          <a:prstGeom prst="roundRect">
            <a:avLst>
              <a:gd name="adj" fmla="val 5317"/>
            </a:avLst>
          </a:prstGeom>
          <a:solidFill>
            <a:srgbClr val="F7F7F7"/>
          </a:solidFill>
          <a:ln w="14288">
            <a:solidFill>
              <a:srgbClr val="CCCCCC"/>
            </a:solidFill>
            <a:prstDash val="solid"/>
          </a:ln>
        </p:spPr>
      </p:sp>
      <p:sp>
        <p:nvSpPr>
          <p:cNvPr id="9" name="Text 6"/>
          <p:cNvSpPr/>
          <p:nvPr/>
        </p:nvSpPr>
        <p:spPr>
          <a:xfrm>
            <a:off x="655513" y="4028703"/>
            <a:ext cx="1735113" cy="12657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000" dirty="0">
                <a:solidFill>
                  <a:srgbClr val="383838"/>
                </a:solidFill>
                <a:latin typeface="Patrick Hand" pitchFamily="34" charset="0"/>
                <a:ea typeface="Patrick Hand" pitchFamily="34" charset="-122"/>
                <a:cs typeface="Patrick Hand" pitchFamily="34" charset="-120"/>
              </a:rPr>
              <a:t>Part 1 — Energy Analysis</a:t>
            </a:r>
            <a:endParaRPr lang="en-US" sz="1000" dirty="0"/>
          </a:p>
        </p:txBody>
      </p:sp>
      <p:sp>
        <p:nvSpPr>
          <p:cNvPr id="10" name="Text 7"/>
          <p:cNvSpPr/>
          <p:nvPr/>
        </p:nvSpPr>
        <p:spPr>
          <a:xfrm>
            <a:off x="655513" y="4195093"/>
            <a:ext cx="1735113" cy="268337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Autofit/>
          </a:bodyPr>
          <a:lstStyle/>
          <a:p>
            <a:pPr marL="0" indent="0" algn="l">
              <a:lnSpc>
                <a:spcPct val="110000"/>
              </a:lnSpc>
              <a:buNone/>
            </a:pPr>
            <a:r>
              <a:rPr lang="en-US" sz="1000" dirty="0">
                <a:solidFill>
                  <a:srgbClr val="383838"/>
                </a:solidFill>
                <a:latin typeface="Patrick Hand" pitchFamily="34" charset="0"/>
                <a:ea typeface="Patrick Hand" pitchFamily="34" charset="-122"/>
                <a:cs typeface="Patrick Hand" pitchFamily="34" charset="-120"/>
              </a:rPr>
              <a:t>Energy calculator, host power models and host ranking for baseline consumption.</a:t>
            </a:r>
            <a:endParaRPr lang="en-US" sz="1000" dirty="0"/>
          </a:p>
        </p:txBody>
      </p:sp>
      <p:sp>
        <p:nvSpPr>
          <p:cNvPr id="11" name="Shape 8"/>
          <p:cNvSpPr/>
          <p:nvPr/>
        </p:nvSpPr>
        <p:spPr>
          <a:xfrm>
            <a:off x="2572569" y="3913212"/>
            <a:ext cx="1966168" cy="799877"/>
          </a:xfrm>
          <a:prstGeom prst="roundRect">
            <a:avLst>
              <a:gd name="adj" fmla="val 5317"/>
            </a:avLst>
          </a:prstGeom>
          <a:solidFill>
            <a:srgbClr val="F7F7F7"/>
          </a:solidFill>
          <a:ln w="14288">
            <a:solidFill>
              <a:srgbClr val="CCCCCC"/>
            </a:solidFill>
            <a:prstDash val="solid"/>
          </a:ln>
        </p:spPr>
      </p:sp>
      <p:sp>
        <p:nvSpPr>
          <p:cNvPr id="12" name="Text 9"/>
          <p:cNvSpPr/>
          <p:nvPr/>
        </p:nvSpPr>
        <p:spPr>
          <a:xfrm>
            <a:off x="2688059" y="4028703"/>
            <a:ext cx="1735187" cy="12657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000" dirty="0">
                <a:solidFill>
                  <a:srgbClr val="383838"/>
                </a:solidFill>
                <a:latin typeface="Patrick Hand" pitchFamily="34" charset="0"/>
                <a:ea typeface="Patrick Hand" pitchFamily="34" charset="-122"/>
                <a:cs typeface="Patrick Hand" pitchFamily="34" charset="-120"/>
              </a:rPr>
              <a:t>Part 2 — AI VM Placement</a:t>
            </a:r>
            <a:endParaRPr lang="en-US" sz="1000" dirty="0"/>
          </a:p>
        </p:txBody>
      </p:sp>
      <p:sp>
        <p:nvSpPr>
          <p:cNvPr id="13" name="Text 10"/>
          <p:cNvSpPr/>
          <p:nvPr/>
        </p:nvSpPr>
        <p:spPr>
          <a:xfrm>
            <a:off x="2688059" y="4195093"/>
            <a:ext cx="1735187" cy="268337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Autofit/>
          </a:bodyPr>
          <a:lstStyle/>
          <a:p>
            <a:pPr marL="0" indent="0" algn="l">
              <a:lnSpc>
                <a:spcPct val="110000"/>
              </a:lnSpc>
              <a:buNone/>
            </a:pPr>
            <a:r>
              <a:rPr lang="en-US" sz="1000" dirty="0">
                <a:solidFill>
                  <a:srgbClr val="383838"/>
                </a:solidFill>
                <a:latin typeface="Patrick Hand" pitchFamily="34" charset="0"/>
                <a:ea typeface="Patrick Hand" pitchFamily="34" charset="-122"/>
                <a:cs typeface="Patrick Hand" pitchFamily="34" charset="-120"/>
              </a:rPr>
              <a:t>Host scoring engine, placement decision module and historical placement logs.</a:t>
            </a:r>
            <a:endParaRPr lang="en-US" sz="1000" dirty="0"/>
          </a:p>
        </p:txBody>
      </p:sp>
      <p:sp>
        <p:nvSpPr>
          <p:cNvPr id="14" name="Shape 11"/>
          <p:cNvSpPr/>
          <p:nvPr/>
        </p:nvSpPr>
        <p:spPr>
          <a:xfrm>
            <a:off x="4605189" y="3913212"/>
            <a:ext cx="1966168" cy="799877"/>
          </a:xfrm>
          <a:prstGeom prst="roundRect">
            <a:avLst>
              <a:gd name="adj" fmla="val 5317"/>
            </a:avLst>
          </a:prstGeom>
          <a:solidFill>
            <a:srgbClr val="F7F7F7"/>
          </a:solidFill>
          <a:ln w="14288">
            <a:solidFill>
              <a:srgbClr val="CCCCCC"/>
            </a:solidFill>
            <a:prstDash val="solid"/>
          </a:ln>
        </p:spPr>
      </p:sp>
      <p:sp>
        <p:nvSpPr>
          <p:cNvPr id="15" name="Text 12"/>
          <p:cNvSpPr/>
          <p:nvPr/>
        </p:nvSpPr>
        <p:spPr>
          <a:xfrm>
            <a:off x="4720679" y="4028703"/>
            <a:ext cx="1735187" cy="12657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000" dirty="0">
                <a:solidFill>
                  <a:srgbClr val="383838"/>
                </a:solidFill>
                <a:latin typeface="Patrick Hand" pitchFamily="34" charset="0"/>
                <a:ea typeface="Patrick Hand" pitchFamily="34" charset="-122"/>
                <a:cs typeface="Patrick Hand" pitchFamily="34" charset="-120"/>
              </a:rPr>
              <a:t>Part 3 — Migration Engine</a:t>
            </a:r>
            <a:endParaRPr lang="en-US" sz="1000" dirty="0"/>
          </a:p>
        </p:txBody>
      </p:sp>
      <p:sp>
        <p:nvSpPr>
          <p:cNvPr id="16" name="Text 13"/>
          <p:cNvSpPr/>
          <p:nvPr/>
        </p:nvSpPr>
        <p:spPr>
          <a:xfrm>
            <a:off x="4720679" y="4195093"/>
            <a:ext cx="1735187" cy="268337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Autofit/>
          </a:bodyPr>
          <a:lstStyle/>
          <a:p>
            <a:pPr marL="0" indent="0" algn="l">
              <a:lnSpc>
                <a:spcPct val="110000"/>
              </a:lnSpc>
              <a:buNone/>
            </a:pPr>
            <a:r>
              <a:rPr lang="en-US" sz="1000" dirty="0">
                <a:solidFill>
                  <a:srgbClr val="383838"/>
                </a:solidFill>
                <a:latin typeface="Patrick Hand" pitchFamily="34" charset="0"/>
                <a:ea typeface="Patrick Hand" pitchFamily="34" charset="-122"/>
                <a:cs typeface="Patrick Hand" pitchFamily="34" charset="-120"/>
              </a:rPr>
              <a:t>Migration recommendations, consolidation policies and load balancing strategies.</a:t>
            </a:r>
            <a:endParaRPr lang="en-US" sz="1000" dirty="0"/>
          </a:p>
        </p:txBody>
      </p:sp>
      <p:sp>
        <p:nvSpPr>
          <p:cNvPr id="17" name="Shape 14"/>
          <p:cNvSpPr/>
          <p:nvPr/>
        </p:nvSpPr>
        <p:spPr>
          <a:xfrm>
            <a:off x="6637809" y="3913212"/>
            <a:ext cx="1966168" cy="799877"/>
          </a:xfrm>
          <a:prstGeom prst="roundRect">
            <a:avLst>
              <a:gd name="adj" fmla="val 5317"/>
            </a:avLst>
          </a:prstGeom>
          <a:solidFill>
            <a:srgbClr val="F7F7F7"/>
          </a:solidFill>
          <a:ln w="14288">
            <a:solidFill>
              <a:srgbClr val="CCCCCC"/>
            </a:solidFill>
            <a:prstDash val="solid"/>
          </a:ln>
        </p:spPr>
      </p:sp>
      <p:sp>
        <p:nvSpPr>
          <p:cNvPr id="18" name="Text 15"/>
          <p:cNvSpPr/>
          <p:nvPr/>
        </p:nvSpPr>
        <p:spPr>
          <a:xfrm>
            <a:off x="6753299" y="4028703"/>
            <a:ext cx="1735187" cy="12657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000" dirty="0">
                <a:solidFill>
                  <a:srgbClr val="383838"/>
                </a:solidFill>
                <a:latin typeface="Patrick Hand" pitchFamily="34" charset="0"/>
                <a:ea typeface="Patrick Hand" pitchFamily="34" charset="-122"/>
                <a:cs typeface="Patrick Hand" pitchFamily="34" charset="-120"/>
              </a:rPr>
              <a:t>Part 4 — Optimization Engine</a:t>
            </a:r>
            <a:endParaRPr lang="en-US" sz="1000" dirty="0"/>
          </a:p>
        </p:txBody>
      </p:sp>
      <p:sp>
        <p:nvSpPr>
          <p:cNvPr id="19" name="Text 16"/>
          <p:cNvSpPr/>
          <p:nvPr/>
        </p:nvSpPr>
        <p:spPr>
          <a:xfrm>
            <a:off x="6753299" y="4195093"/>
            <a:ext cx="1735187" cy="40250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Autofit/>
          </a:bodyPr>
          <a:lstStyle/>
          <a:p>
            <a:pPr marL="0" indent="0" algn="l">
              <a:lnSpc>
                <a:spcPct val="110000"/>
              </a:lnSpc>
              <a:buNone/>
            </a:pPr>
            <a:r>
              <a:rPr lang="en-US" sz="1000" dirty="0">
                <a:solidFill>
                  <a:srgbClr val="383838"/>
                </a:solidFill>
                <a:latin typeface="Patrick Hand" pitchFamily="34" charset="0"/>
                <a:ea typeface="Patrick Hand" pitchFamily="34" charset="-122"/>
                <a:cs typeface="Patrick Hand" pitchFamily="34" charset="-120"/>
              </a:rPr>
              <a:t>SLA monitoring, host power management, optimisation scoring and energy-saving analysis.</a:t>
            </a:r>
            <a:endParaRPr lang="en-US" sz="10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0023" y="861120"/>
            <a:ext cx="8063954" cy="38568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2400" dirty="0">
                <a:solidFill>
                  <a:srgbClr val="383838"/>
                </a:solidFill>
                <a:latin typeface="Patrick Hand" pitchFamily="34" charset="0"/>
                <a:ea typeface="Patrick Hand" pitchFamily="34" charset="-122"/>
                <a:cs typeface="Patrick Hand" pitchFamily="34" charset="-120"/>
              </a:rPr>
              <a:t>Technologies Used</a:t>
            </a:r>
            <a:endParaRPr lang="en-US" sz="2400" dirty="0"/>
          </a:p>
        </p:txBody>
      </p:sp>
      <p:pic>
        <p:nvPicPr>
          <p:cNvPr id="3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40023" y="1555403"/>
            <a:ext cx="823317" cy="823317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540023" y="2571601"/>
            <a:ext cx="1871290" cy="19288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200" dirty="0">
                <a:solidFill>
                  <a:srgbClr val="383838"/>
                </a:solidFill>
                <a:latin typeface="Patrick Hand" pitchFamily="34" charset="0"/>
                <a:ea typeface="Patrick Hand" pitchFamily="34" charset="-122"/>
                <a:cs typeface="Patrick Hand" pitchFamily="34" charset="-120"/>
              </a:rPr>
              <a:t>Java 17</a:t>
            </a:r>
            <a:endParaRPr lang="en-US" sz="1200" dirty="0"/>
          </a:p>
        </p:txBody>
      </p:sp>
      <p:pic>
        <p:nvPicPr>
          <p:cNvPr id="5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604195" y="1555403"/>
            <a:ext cx="823392" cy="823392"/>
          </a:xfrm>
          <a:prstGeom prst="rect">
            <a:avLst/>
          </a:prstGeom>
        </p:spPr>
      </p:pic>
      <p:sp>
        <p:nvSpPr>
          <p:cNvPr id="6" name="Text 2"/>
          <p:cNvSpPr/>
          <p:nvPr/>
        </p:nvSpPr>
        <p:spPr>
          <a:xfrm>
            <a:off x="2604195" y="2571676"/>
            <a:ext cx="1871365" cy="19288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200" dirty="0">
                <a:solidFill>
                  <a:srgbClr val="383838"/>
                </a:solidFill>
                <a:latin typeface="Patrick Hand" pitchFamily="34" charset="0"/>
                <a:ea typeface="Patrick Hand" pitchFamily="34" charset="-122"/>
                <a:cs typeface="Patrick Hand" pitchFamily="34" charset="-120"/>
              </a:rPr>
              <a:t>CloudSim Plus 8.5</a:t>
            </a:r>
            <a:endParaRPr lang="en-US" sz="1200" dirty="0"/>
          </a:p>
        </p:txBody>
      </p:sp>
      <p:pic>
        <p:nvPicPr>
          <p:cNvPr id="7" name="Image 2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668441" y="1555403"/>
            <a:ext cx="823317" cy="823317"/>
          </a:xfrm>
          <a:prstGeom prst="rect">
            <a:avLst/>
          </a:prstGeom>
        </p:spPr>
      </p:pic>
      <p:sp>
        <p:nvSpPr>
          <p:cNvPr id="8" name="Text 3"/>
          <p:cNvSpPr/>
          <p:nvPr/>
        </p:nvSpPr>
        <p:spPr>
          <a:xfrm>
            <a:off x="4668441" y="2571601"/>
            <a:ext cx="1871290" cy="19288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200" dirty="0">
                <a:solidFill>
                  <a:srgbClr val="383838"/>
                </a:solidFill>
                <a:latin typeface="Patrick Hand" pitchFamily="34" charset="0"/>
                <a:ea typeface="Patrick Hand" pitchFamily="34" charset="-122"/>
                <a:cs typeface="Patrick Hand" pitchFamily="34" charset="-120"/>
              </a:rPr>
              <a:t>Maven</a:t>
            </a:r>
            <a:endParaRPr lang="en-US" sz="1200" dirty="0"/>
          </a:p>
        </p:txBody>
      </p:sp>
      <p:pic>
        <p:nvPicPr>
          <p:cNvPr id="9" name="Image 3" descr="preencoded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732612" y="1555403"/>
            <a:ext cx="823392" cy="823392"/>
          </a:xfrm>
          <a:prstGeom prst="rect">
            <a:avLst/>
          </a:prstGeom>
        </p:spPr>
      </p:pic>
      <p:sp>
        <p:nvSpPr>
          <p:cNvPr id="10" name="Text 4"/>
          <p:cNvSpPr/>
          <p:nvPr/>
        </p:nvSpPr>
        <p:spPr>
          <a:xfrm>
            <a:off x="6732612" y="2571676"/>
            <a:ext cx="1871365" cy="19288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200" dirty="0">
                <a:solidFill>
                  <a:srgbClr val="383838"/>
                </a:solidFill>
                <a:latin typeface="Patrick Hand" pitchFamily="34" charset="0"/>
                <a:ea typeface="Patrick Hand" pitchFamily="34" charset="-122"/>
                <a:cs typeface="Patrick Hand" pitchFamily="34" charset="-120"/>
              </a:rPr>
              <a:t>IntelliJ IDEA</a:t>
            </a:r>
            <a:endParaRPr lang="en-US" sz="1200" dirty="0"/>
          </a:p>
        </p:txBody>
      </p:sp>
      <p:pic>
        <p:nvPicPr>
          <p:cNvPr id="11" name="Image 4" descr="preencoded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540023" y="3073152"/>
            <a:ext cx="823317" cy="823317"/>
          </a:xfrm>
          <a:prstGeom prst="rect">
            <a:avLst/>
          </a:prstGeom>
        </p:spPr>
      </p:pic>
      <p:sp>
        <p:nvSpPr>
          <p:cNvPr id="12" name="Text 5"/>
          <p:cNvSpPr/>
          <p:nvPr/>
        </p:nvSpPr>
        <p:spPr>
          <a:xfrm>
            <a:off x="540023" y="4089350"/>
            <a:ext cx="1871290" cy="19288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200" dirty="0">
                <a:solidFill>
                  <a:srgbClr val="383838"/>
                </a:solidFill>
                <a:latin typeface="Patrick Hand" pitchFamily="34" charset="0"/>
                <a:ea typeface="Patrick Hand" pitchFamily="34" charset="-122"/>
                <a:cs typeface="Patrick Hand" pitchFamily="34" charset="-120"/>
              </a:rPr>
              <a:t>SLF4J &amp; Logback</a:t>
            </a:r>
            <a:endParaRPr lang="en-US" sz="1200" dirty="0"/>
          </a:p>
        </p:txBody>
      </p:sp>
      <p:pic>
        <p:nvPicPr>
          <p:cNvPr id="13" name="Image 5" descr="preencoded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2604195" y="3073152"/>
            <a:ext cx="823392" cy="823392"/>
          </a:xfrm>
          <a:prstGeom prst="rect">
            <a:avLst/>
          </a:prstGeom>
        </p:spPr>
      </p:pic>
      <p:sp>
        <p:nvSpPr>
          <p:cNvPr id="14" name="Text 6"/>
          <p:cNvSpPr/>
          <p:nvPr/>
        </p:nvSpPr>
        <p:spPr>
          <a:xfrm>
            <a:off x="2604195" y="4089425"/>
            <a:ext cx="1871365" cy="19288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200" dirty="0">
                <a:solidFill>
                  <a:srgbClr val="383838"/>
                </a:solidFill>
                <a:latin typeface="Patrick Hand" pitchFamily="34" charset="0"/>
                <a:ea typeface="Patrick Hand" pitchFamily="34" charset="-122"/>
                <a:cs typeface="Patrick Hand" pitchFamily="34" charset="-120"/>
              </a:rPr>
              <a:t>CSV Export</a:t>
            </a:r>
            <a:endParaRPr lang="en-US" sz="1200" dirty="0"/>
          </a:p>
        </p:txBody>
      </p:sp>
      <p:pic>
        <p:nvPicPr>
          <p:cNvPr id="15" name="Image 6" descr="preencoded.png"/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4668441" y="3073152"/>
            <a:ext cx="823317" cy="823317"/>
          </a:xfrm>
          <a:prstGeom prst="rect">
            <a:avLst/>
          </a:prstGeom>
        </p:spPr>
      </p:pic>
      <p:sp>
        <p:nvSpPr>
          <p:cNvPr id="16" name="Text 7"/>
          <p:cNvSpPr/>
          <p:nvPr/>
        </p:nvSpPr>
        <p:spPr>
          <a:xfrm>
            <a:off x="4668441" y="4089350"/>
            <a:ext cx="1871290" cy="19288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200" dirty="0">
                <a:solidFill>
                  <a:srgbClr val="383838"/>
                </a:solidFill>
                <a:latin typeface="Patrick Hand" pitchFamily="34" charset="0"/>
                <a:ea typeface="Patrick Hand" pitchFamily="34" charset="-122"/>
                <a:cs typeface="Patrick Hand" pitchFamily="34" charset="-120"/>
              </a:rPr>
              <a:t>OOP &amp; AI</a:t>
            </a:r>
            <a:endParaRPr lang="en-US" sz="1200" dirty="0"/>
          </a:p>
        </p:txBody>
      </p:sp>
      <p:pic>
        <p:nvPicPr>
          <p:cNvPr id="17" name="Image 7" descr="preencoded.png"/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6732612" y="3073152"/>
            <a:ext cx="823392" cy="823392"/>
          </a:xfrm>
          <a:prstGeom prst="rect">
            <a:avLst/>
          </a:prstGeom>
        </p:spPr>
      </p:pic>
      <p:sp>
        <p:nvSpPr>
          <p:cNvPr id="18" name="Text 8"/>
          <p:cNvSpPr/>
          <p:nvPr/>
        </p:nvSpPr>
        <p:spPr>
          <a:xfrm>
            <a:off x="6732612" y="4089425"/>
            <a:ext cx="1871365" cy="19288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200" dirty="0">
                <a:solidFill>
                  <a:srgbClr val="383838"/>
                </a:solidFill>
                <a:latin typeface="Patrick Hand" pitchFamily="34" charset="0"/>
                <a:ea typeface="Patrick Hand" pitchFamily="34" charset="-122"/>
                <a:cs typeface="Patrick Hand" pitchFamily="34" charset="-120"/>
              </a:rPr>
              <a:t>Cloud Computing</a:t>
            </a:r>
            <a:endParaRPr lang="en-US" sz="12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0023" y="481757"/>
            <a:ext cx="8063954" cy="35555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2200" dirty="0">
                <a:solidFill>
                  <a:srgbClr val="383838"/>
                </a:solidFill>
                <a:latin typeface="Patrick Hand" pitchFamily="34" charset="0"/>
                <a:ea typeface="Patrick Hand" pitchFamily="34" charset="-122"/>
                <a:cs typeface="Patrick Hand" pitchFamily="34" charset="-120"/>
              </a:rPr>
              <a:t>Results</a:t>
            </a:r>
            <a:endParaRPr lang="en-US" sz="2200" dirty="0"/>
          </a:p>
        </p:txBody>
      </p:sp>
      <p:sp>
        <p:nvSpPr>
          <p:cNvPr id="3" name="Shape 1"/>
          <p:cNvSpPr/>
          <p:nvPr/>
        </p:nvSpPr>
        <p:spPr>
          <a:xfrm>
            <a:off x="540023" y="1181472"/>
            <a:ext cx="1863626" cy="471785"/>
          </a:xfrm>
          <a:prstGeom prst="roundRect">
            <a:avLst>
              <a:gd name="adj" fmla="val 12664"/>
            </a:avLst>
          </a:prstGeom>
          <a:solidFill>
            <a:srgbClr val="E6E6E6"/>
          </a:solidFill>
          <a:ln w="4763">
            <a:solidFill>
              <a:srgbClr val="CCCCCC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686991" y="1328440"/>
            <a:ext cx="1569690" cy="17785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100" dirty="0">
                <a:solidFill>
                  <a:srgbClr val="000000"/>
                </a:solidFill>
                <a:latin typeface="Patrick Hand" pitchFamily="34" charset="0"/>
                <a:ea typeface="Patrick Hand" pitchFamily="34" charset="-122"/>
                <a:cs typeface="Patrick Hand" pitchFamily="34" charset="-120"/>
              </a:rPr>
              <a:t>✔</a:t>
            </a:r>
            <a:r>
              <a:rPr lang="en-US" sz="1100" dirty="0">
                <a:solidFill>
                  <a:srgbClr val="383838"/>
                </a:solidFill>
                <a:latin typeface="Patrick Hand" pitchFamily="34" charset="0"/>
                <a:ea typeface="Patrick Hand" pitchFamily="34" charset="-122"/>
                <a:cs typeface="Patrick Hand" pitchFamily="34" charset="-120"/>
              </a:rPr>
              <a:t> Live Monitoring Console</a:t>
            </a:r>
            <a:endParaRPr lang="en-US" sz="1100" dirty="0"/>
          </a:p>
        </p:txBody>
      </p:sp>
      <p:sp>
        <p:nvSpPr>
          <p:cNvPr id="5" name="Shape 3"/>
          <p:cNvSpPr/>
          <p:nvPr/>
        </p:nvSpPr>
        <p:spPr>
          <a:xfrm>
            <a:off x="2534766" y="1181472"/>
            <a:ext cx="1863700" cy="471785"/>
          </a:xfrm>
          <a:prstGeom prst="roundRect">
            <a:avLst>
              <a:gd name="adj" fmla="val 12664"/>
            </a:avLst>
          </a:prstGeom>
          <a:solidFill>
            <a:srgbClr val="E6E6E6"/>
          </a:solidFill>
          <a:ln w="4763">
            <a:solidFill>
              <a:srgbClr val="CCCCCC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2681734" y="1328440"/>
            <a:ext cx="1569765" cy="17785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100" dirty="0">
                <a:solidFill>
                  <a:srgbClr val="000000"/>
                </a:solidFill>
                <a:latin typeface="Patrick Hand" pitchFamily="34" charset="0"/>
                <a:ea typeface="Patrick Hand" pitchFamily="34" charset="-122"/>
                <a:cs typeface="Patrick Hand" pitchFamily="34" charset="-120"/>
              </a:rPr>
              <a:t>✔</a:t>
            </a:r>
            <a:r>
              <a:rPr lang="en-US" sz="1100" dirty="0">
                <a:solidFill>
                  <a:srgbClr val="383838"/>
                </a:solidFill>
                <a:latin typeface="Patrick Hand" pitchFamily="34" charset="0"/>
                <a:ea typeface="Patrick Hand" pitchFamily="34" charset="-122"/>
                <a:cs typeface="Patrick Hand" pitchFamily="34" charset="-120"/>
              </a:rPr>
              <a:t> AI Placement Engine</a:t>
            </a:r>
            <a:endParaRPr lang="en-US" sz="1100" dirty="0"/>
          </a:p>
        </p:txBody>
      </p:sp>
      <p:sp>
        <p:nvSpPr>
          <p:cNvPr id="7" name="Shape 5"/>
          <p:cNvSpPr/>
          <p:nvPr/>
        </p:nvSpPr>
        <p:spPr>
          <a:xfrm>
            <a:off x="540023" y="1784375"/>
            <a:ext cx="1863626" cy="649635"/>
          </a:xfrm>
          <a:prstGeom prst="roundRect">
            <a:avLst>
              <a:gd name="adj" fmla="val 9197"/>
            </a:avLst>
          </a:prstGeom>
          <a:solidFill>
            <a:srgbClr val="E6E6E6"/>
          </a:solidFill>
          <a:ln w="4763">
            <a:solidFill>
              <a:srgbClr val="CCCCCC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686991" y="1931343"/>
            <a:ext cx="1569690" cy="17785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100" dirty="0">
                <a:solidFill>
                  <a:srgbClr val="000000"/>
                </a:solidFill>
                <a:latin typeface="Patrick Hand" pitchFamily="34" charset="0"/>
                <a:ea typeface="Patrick Hand" pitchFamily="34" charset="-122"/>
                <a:cs typeface="Patrick Hand" pitchFamily="34" charset="-120"/>
              </a:rPr>
              <a:t>✔</a:t>
            </a:r>
            <a:r>
              <a:rPr lang="en-US" sz="1100" dirty="0">
                <a:solidFill>
                  <a:srgbClr val="383838"/>
                </a:solidFill>
                <a:latin typeface="Patrick Hand" pitchFamily="34" charset="0"/>
                <a:ea typeface="Patrick Hand" pitchFamily="34" charset="-122"/>
                <a:cs typeface="Patrick Hand" pitchFamily="34" charset="-120"/>
              </a:rPr>
              <a:t> Energy Monitoring</a:t>
            </a:r>
            <a:endParaRPr lang="en-US" sz="1100" dirty="0"/>
          </a:p>
        </p:txBody>
      </p:sp>
      <p:sp>
        <p:nvSpPr>
          <p:cNvPr id="9" name="Shape 7"/>
          <p:cNvSpPr/>
          <p:nvPr/>
        </p:nvSpPr>
        <p:spPr>
          <a:xfrm>
            <a:off x="2534766" y="1784375"/>
            <a:ext cx="1863700" cy="649635"/>
          </a:xfrm>
          <a:prstGeom prst="roundRect">
            <a:avLst>
              <a:gd name="adj" fmla="val 9197"/>
            </a:avLst>
          </a:prstGeom>
          <a:solidFill>
            <a:srgbClr val="E6E6E6"/>
          </a:solidFill>
          <a:ln w="4763">
            <a:solidFill>
              <a:srgbClr val="CCCCCC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2681734" y="1931343"/>
            <a:ext cx="1569765" cy="355699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100" dirty="0">
                <a:solidFill>
                  <a:srgbClr val="000000"/>
                </a:solidFill>
                <a:latin typeface="Patrick Hand" pitchFamily="34" charset="0"/>
                <a:ea typeface="Patrick Hand" pitchFamily="34" charset="-122"/>
                <a:cs typeface="Patrick Hand" pitchFamily="34" charset="-120"/>
              </a:rPr>
              <a:t>✔</a:t>
            </a:r>
            <a:r>
              <a:rPr lang="en-US" sz="1100" dirty="0">
                <a:solidFill>
                  <a:srgbClr val="383838"/>
                </a:solidFill>
                <a:latin typeface="Patrick Hand" pitchFamily="34" charset="0"/>
                <a:ea typeface="Patrick Hand" pitchFamily="34" charset="-122"/>
                <a:cs typeface="Patrick Hand" pitchFamily="34" charset="-120"/>
              </a:rPr>
              <a:t> Migration Recommendations</a:t>
            </a:r>
            <a:endParaRPr lang="en-US" sz="1100" dirty="0"/>
          </a:p>
        </p:txBody>
      </p:sp>
      <p:sp>
        <p:nvSpPr>
          <p:cNvPr id="11" name="Shape 9"/>
          <p:cNvSpPr/>
          <p:nvPr/>
        </p:nvSpPr>
        <p:spPr>
          <a:xfrm>
            <a:off x="540023" y="2565127"/>
            <a:ext cx="1863626" cy="649635"/>
          </a:xfrm>
          <a:prstGeom prst="roundRect">
            <a:avLst>
              <a:gd name="adj" fmla="val 9197"/>
            </a:avLst>
          </a:prstGeom>
          <a:solidFill>
            <a:srgbClr val="E6E6E6"/>
          </a:solidFill>
          <a:ln w="4763">
            <a:solidFill>
              <a:srgbClr val="CCCCCC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686991" y="2712095"/>
            <a:ext cx="1569690" cy="355699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100" dirty="0">
                <a:solidFill>
                  <a:srgbClr val="000000"/>
                </a:solidFill>
                <a:latin typeface="Patrick Hand" pitchFamily="34" charset="0"/>
                <a:ea typeface="Patrick Hand" pitchFamily="34" charset="-122"/>
                <a:cs typeface="Patrick Hand" pitchFamily="34" charset="-120"/>
              </a:rPr>
              <a:t>✔</a:t>
            </a:r>
            <a:r>
              <a:rPr lang="en-US" sz="1100" dirty="0">
                <a:solidFill>
                  <a:srgbClr val="383838"/>
                </a:solidFill>
                <a:latin typeface="Patrick Hand" pitchFamily="34" charset="0"/>
                <a:ea typeface="Patrick Hand" pitchFamily="34" charset="-122"/>
                <a:cs typeface="Patrick Hand" pitchFamily="34" charset="-120"/>
              </a:rPr>
              <a:t> CSV Export &amp; Event Logging</a:t>
            </a:r>
            <a:endParaRPr lang="en-US" sz="1100" dirty="0"/>
          </a:p>
        </p:txBody>
      </p:sp>
      <p:sp>
        <p:nvSpPr>
          <p:cNvPr id="13" name="Shape 11"/>
          <p:cNvSpPr/>
          <p:nvPr/>
        </p:nvSpPr>
        <p:spPr>
          <a:xfrm>
            <a:off x="2534766" y="2565127"/>
            <a:ext cx="1863700" cy="649635"/>
          </a:xfrm>
          <a:prstGeom prst="roundRect">
            <a:avLst>
              <a:gd name="adj" fmla="val 9197"/>
            </a:avLst>
          </a:prstGeom>
          <a:solidFill>
            <a:srgbClr val="E6E6E6"/>
          </a:solidFill>
          <a:ln w="4763">
            <a:solidFill>
              <a:srgbClr val="CCCCCC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2681734" y="2712095"/>
            <a:ext cx="1569765" cy="355699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100" dirty="0">
                <a:solidFill>
                  <a:srgbClr val="000000"/>
                </a:solidFill>
                <a:latin typeface="Patrick Hand" pitchFamily="34" charset="0"/>
                <a:ea typeface="Patrick Hand" pitchFamily="34" charset="-122"/>
                <a:cs typeface="Patrick Hand" pitchFamily="34" charset="-120"/>
              </a:rPr>
              <a:t>✔</a:t>
            </a:r>
            <a:r>
              <a:rPr lang="en-US" sz="1100" dirty="0">
                <a:solidFill>
                  <a:srgbClr val="383838"/>
                </a:solidFill>
                <a:latin typeface="Patrick Hand" pitchFamily="34" charset="0"/>
                <a:ea typeface="Patrick Hand" pitchFamily="34" charset="-122"/>
                <a:cs typeface="Patrick Hand" pitchFamily="34" charset="-120"/>
              </a:rPr>
              <a:t> Modular Architecture &amp; Reports</a:t>
            </a:r>
            <a:endParaRPr lang="en-US" sz="1100" dirty="0"/>
          </a:p>
        </p:txBody>
      </p:sp>
      <p:pic>
        <p:nvPicPr>
          <p:cNvPr id="15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750296" y="1181472"/>
            <a:ext cx="3858444" cy="2777282"/>
          </a:xfrm>
          <a:prstGeom prst="rect">
            <a:avLst/>
          </a:prstGeom>
        </p:spPr>
      </p:pic>
      <p:sp>
        <p:nvSpPr>
          <p:cNvPr id="16" name="Text 13"/>
          <p:cNvSpPr/>
          <p:nvPr/>
        </p:nvSpPr>
        <p:spPr>
          <a:xfrm>
            <a:off x="4750296" y="4106242"/>
            <a:ext cx="3858444" cy="43740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28000"/>
              </a:lnSpc>
              <a:buNone/>
            </a:pPr>
            <a:r>
              <a:rPr lang="en-US" sz="1100" dirty="0">
                <a:solidFill>
                  <a:srgbClr val="383838"/>
                </a:solidFill>
                <a:latin typeface="Patrick Hand" pitchFamily="34" charset="0"/>
                <a:ea typeface="Patrick Hand" pitchFamily="34" charset="-122"/>
                <a:cs typeface="Patrick Hand" pitchFamily="34" charset="-120"/>
              </a:rPr>
              <a:t> Comparison chart: AI-based Green Cloud shows measurable improvements in overall efficiency (host utilisation, fewer migrations, and lower energy).</a:t>
            </a:r>
            <a:endParaRPr lang="en-US" sz="11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0023" y="429369"/>
            <a:ext cx="8063954" cy="22301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2000" dirty="0">
                <a:solidFill>
                  <a:srgbClr val="383838"/>
                </a:solidFill>
                <a:latin typeface="Patrick Hand" pitchFamily="34" charset="0"/>
                <a:ea typeface="Patrick Hand" pitchFamily="34" charset="-122"/>
                <a:cs typeface="Patrick Hand" pitchFamily="34" charset="-120"/>
              </a:rPr>
              <a:t>Future Scope </a:t>
            </a:r>
            <a:endParaRPr lang="en-US" sz="2000" dirty="0"/>
          </a:p>
        </p:txBody>
      </p:sp>
      <p:sp>
        <p:nvSpPr>
          <p:cNvPr id="3" name="Text 1"/>
          <p:cNvSpPr/>
          <p:nvPr/>
        </p:nvSpPr>
        <p:spPr>
          <a:xfrm>
            <a:off x="540023" y="1055117"/>
            <a:ext cx="4337224" cy="76557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Autofit/>
          </a:bodyPr>
          <a:lstStyle/>
          <a:p>
            <a:pPr marL="142240" indent="-142240" algn="just">
              <a:lnSpc>
                <a:spcPct val="105000"/>
              </a:lnSpc>
              <a:buSzPct val="100000"/>
              <a:buChar char="•"/>
            </a:pPr>
            <a:r>
              <a:rPr lang="en-US" sz="1600" dirty="0">
                <a:solidFill>
                  <a:srgbClr val="383838"/>
                </a:solidFill>
                <a:latin typeface="Patrick Hand" pitchFamily="34" charset="0"/>
                <a:ea typeface="Patrick Hand" pitchFamily="34" charset="-122"/>
                <a:cs typeface="Patrick Hand" pitchFamily="34" charset="-120"/>
              </a:rPr>
              <a:t>Machine learning prediction for workload patterns.</a:t>
            </a:r>
            <a:endParaRPr lang="en-US" sz="1600" dirty="0"/>
          </a:p>
          <a:p>
            <a:pPr marL="142240" indent="-142240" algn="just">
              <a:lnSpc>
                <a:spcPct val="105000"/>
              </a:lnSpc>
              <a:buSzPct val="100000"/>
              <a:buChar char="•"/>
            </a:pPr>
            <a:r>
              <a:rPr lang="en-US" sz="1600" dirty="0">
                <a:solidFill>
                  <a:srgbClr val="383838"/>
                </a:solidFill>
                <a:latin typeface="Patrick Hand" pitchFamily="34" charset="0"/>
                <a:ea typeface="Patrick Hand" pitchFamily="34" charset="-122"/>
                <a:cs typeface="Patrick Hand" pitchFamily="34" charset="-120"/>
              </a:rPr>
              <a:t>Reinforcement Learning scheduler for adaptive policies.</a:t>
            </a:r>
            <a:endParaRPr lang="en-US" sz="1600" dirty="0"/>
          </a:p>
          <a:p>
            <a:pPr marL="142240" indent="-142240" algn="just">
              <a:lnSpc>
                <a:spcPct val="105000"/>
              </a:lnSpc>
              <a:buSzPct val="100000"/>
              <a:buChar char="•"/>
            </a:pPr>
            <a:r>
              <a:rPr lang="en-US" sz="1600" dirty="0">
                <a:solidFill>
                  <a:srgbClr val="383838"/>
                </a:solidFill>
                <a:latin typeface="Patrick Hand" pitchFamily="34" charset="0"/>
                <a:ea typeface="Patrick Hand" pitchFamily="34" charset="-122"/>
                <a:cs typeface="Patrick Hand" pitchFamily="34" charset="-120"/>
              </a:rPr>
              <a:t>Multi-datacentre and renewable-energy aware scheduling.</a:t>
            </a:r>
            <a:endParaRPr lang="en-US" sz="1600" dirty="0"/>
          </a:p>
          <a:p>
            <a:pPr marL="142240" indent="-142240" algn="just">
              <a:lnSpc>
                <a:spcPct val="105000"/>
              </a:lnSpc>
              <a:buSzPct val="100000"/>
              <a:buChar char="•"/>
            </a:pPr>
            <a:r>
              <a:rPr lang="en-US" sz="1600" dirty="0">
                <a:solidFill>
                  <a:srgbClr val="383838"/>
                </a:solidFill>
                <a:latin typeface="Patrick Hand" pitchFamily="34" charset="0"/>
                <a:ea typeface="Patrick Hand" pitchFamily="34" charset="-122"/>
                <a:cs typeface="Patrick Hand" pitchFamily="34" charset="-120"/>
              </a:rPr>
              <a:t>Container orchestration (Docker / Kubernetes) integration.</a:t>
            </a:r>
            <a:endParaRPr lang="en-US" sz="1600" dirty="0"/>
          </a:p>
          <a:p>
            <a:pPr marL="142240" indent="-142240" algn="just">
              <a:lnSpc>
                <a:spcPct val="105000"/>
              </a:lnSpc>
              <a:buSzPct val="100000"/>
              <a:buChar char="•"/>
            </a:pPr>
            <a:r>
              <a:rPr lang="en-US" sz="1600" dirty="0">
                <a:solidFill>
                  <a:srgbClr val="383838"/>
                </a:solidFill>
                <a:latin typeface="Patrick Hand" pitchFamily="34" charset="0"/>
                <a:ea typeface="Patrick Hand" pitchFamily="34" charset="-122"/>
                <a:cs typeface="Patrick Hand" pitchFamily="34" charset="-120"/>
              </a:rPr>
              <a:t>Real-time web dashboard with live graphs and alerts.</a:t>
            </a:r>
            <a:endParaRPr lang="en-US" sz="1600" dirty="0"/>
          </a:p>
          <a:p>
            <a:pPr marL="142240" indent="-142240" algn="just">
              <a:lnSpc>
                <a:spcPct val="105000"/>
              </a:lnSpc>
              <a:buSzPct val="100000"/>
              <a:buChar char="•"/>
            </a:pPr>
            <a:r>
              <a:rPr lang="en-US" sz="1600" dirty="0">
                <a:solidFill>
                  <a:srgbClr val="383838"/>
                </a:solidFill>
                <a:latin typeface="Patrick Hand" pitchFamily="34" charset="0"/>
                <a:ea typeface="Patrick Hand" pitchFamily="34" charset="-122"/>
                <a:cs typeface="Patrick Hand" pitchFamily="34" charset="-120"/>
              </a:rPr>
              <a:t>IoT and digital twin integration for energy-aware edge-cloud.</a:t>
            </a:r>
            <a:endParaRPr lang="en-US" sz="1600" dirty="0"/>
          </a:p>
        </p:txBody>
      </p:sp>
      <p:sp>
        <p:nvSpPr>
          <p:cNvPr id="4" name="Text 2"/>
          <p:cNvSpPr/>
          <p:nvPr/>
        </p:nvSpPr>
        <p:spPr>
          <a:xfrm>
            <a:off x="540023" y="2481206"/>
            <a:ext cx="4337224" cy="33776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Autofit/>
          </a:bodyPr>
          <a:lstStyle/>
          <a:p>
            <a:pPr marL="0" indent="0" algn="just">
              <a:lnSpc>
                <a:spcPct val="105000"/>
              </a:lnSpc>
              <a:buNone/>
            </a:pPr>
            <a:endParaRPr lang="en-US" sz="1200" dirty="0"/>
          </a:p>
        </p:txBody>
      </p:sp>
      <p:sp>
        <p:nvSpPr>
          <p:cNvPr id="7" name="Text 4"/>
          <p:cNvSpPr/>
          <p:nvPr/>
        </p:nvSpPr>
        <p:spPr>
          <a:xfrm>
            <a:off x="572914" y="4109600"/>
            <a:ext cx="4415507" cy="11258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5000"/>
              </a:lnSpc>
              <a:buNone/>
            </a:pPr>
            <a:endParaRPr lang="en-US" sz="1000" dirty="0"/>
          </a:p>
        </p:txBody>
      </p:sp>
      <p:pic>
        <p:nvPicPr>
          <p:cNvPr id="8" name="Image 1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099596" y="787673"/>
            <a:ext cx="3509070" cy="3509070"/>
          </a:xfrm>
          <a:prstGeom prst="rect">
            <a:avLst/>
          </a:prstGeom>
        </p:spPr>
      </p:pic>
      <p:sp>
        <p:nvSpPr>
          <p:cNvPr id="9" name="Text 5"/>
          <p:cNvSpPr/>
          <p:nvPr/>
        </p:nvSpPr>
        <p:spPr>
          <a:xfrm>
            <a:off x="5099596" y="4354711"/>
            <a:ext cx="3509070" cy="30777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ct val="104000"/>
              </a:lnSpc>
              <a:buNone/>
            </a:pPr>
            <a:r>
              <a:rPr lang="en-US" sz="2000" dirty="0">
                <a:solidFill>
                  <a:srgbClr val="383838"/>
                </a:solidFill>
                <a:latin typeface="Patrick Hand" pitchFamily="34" charset="0"/>
                <a:ea typeface="Patrick Hand" pitchFamily="34" charset="-122"/>
                <a:cs typeface="Patrick Hand" pitchFamily="34" charset="-120"/>
              </a:rPr>
              <a:t>Sustainable · Intelligent · Extensible</a:t>
            </a:r>
            <a:endParaRPr lang="en-US" sz="20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C6DD62B-24B8-5CFF-7716-1DF2055FE7A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>
            <a:extLst>
              <a:ext uri="{FF2B5EF4-FFF2-40B4-BE49-F238E27FC236}">
                <a16:creationId xmlns:a16="http://schemas.microsoft.com/office/drawing/2014/main" id="{CEA61046-3C4F-21D2-A5FC-D3F1850B5B7D}"/>
              </a:ext>
            </a:extLst>
          </p:cNvPr>
          <p:cNvSpPr/>
          <p:nvPr/>
        </p:nvSpPr>
        <p:spPr>
          <a:xfrm>
            <a:off x="540023" y="429369"/>
            <a:ext cx="8063954" cy="22301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2000" dirty="0">
                <a:solidFill>
                  <a:srgbClr val="383838"/>
                </a:solidFill>
                <a:latin typeface="Patrick Hand" pitchFamily="34" charset="0"/>
                <a:ea typeface="Patrick Hand" pitchFamily="34" charset="-122"/>
                <a:cs typeface="Patrick Hand" pitchFamily="34" charset="-120"/>
              </a:rPr>
              <a:t>Literature-review</a:t>
            </a:r>
            <a:endParaRPr lang="en-US" sz="2000" dirty="0"/>
          </a:p>
        </p:txBody>
      </p:sp>
      <p:sp>
        <p:nvSpPr>
          <p:cNvPr id="3" name="Text 1">
            <a:extLst>
              <a:ext uri="{FF2B5EF4-FFF2-40B4-BE49-F238E27FC236}">
                <a16:creationId xmlns:a16="http://schemas.microsoft.com/office/drawing/2014/main" id="{99FACB47-1B67-E778-7B65-865A0CEA5E64}"/>
              </a:ext>
            </a:extLst>
          </p:cNvPr>
          <p:cNvSpPr/>
          <p:nvPr/>
        </p:nvSpPr>
        <p:spPr>
          <a:xfrm>
            <a:off x="540023" y="1055117"/>
            <a:ext cx="4337224" cy="76557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Autofit/>
          </a:bodyPr>
          <a:lstStyle/>
          <a:p>
            <a:endParaRPr lang="en-IN" sz="1200" dirty="0"/>
          </a:p>
        </p:txBody>
      </p:sp>
      <p:sp>
        <p:nvSpPr>
          <p:cNvPr id="4" name="Text 2">
            <a:extLst>
              <a:ext uri="{FF2B5EF4-FFF2-40B4-BE49-F238E27FC236}">
                <a16:creationId xmlns:a16="http://schemas.microsoft.com/office/drawing/2014/main" id="{87BF4921-5FB3-5891-D5E7-78AE22A02AF1}"/>
              </a:ext>
            </a:extLst>
          </p:cNvPr>
          <p:cNvSpPr/>
          <p:nvPr/>
        </p:nvSpPr>
        <p:spPr>
          <a:xfrm>
            <a:off x="706784" y="856061"/>
            <a:ext cx="7620352" cy="33776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Autofit/>
          </a:bodyPr>
          <a:lstStyle/>
          <a:p>
            <a:pPr marL="171450" indent="-171450" algn="just">
              <a:lnSpc>
                <a:spcPct val="105000"/>
              </a:lnSpc>
              <a:buFont typeface="Arial" panose="020B0604020202020204" pitchFamily="34" charset="0"/>
              <a:buChar char="•"/>
            </a:pPr>
            <a:endParaRPr lang="en-US" sz="1200" dirty="0"/>
          </a:p>
        </p:txBody>
      </p:sp>
      <p:pic>
        <p:nvPicPr>
          <p:cNvPr id="6" name="Image 0" descr="preencoded.png">
            <a:extLst>
              <a:ext uri="{FF2B5EF4-FFF2-40B4-BE49-F238E27FC236}">
                <a16:creationId xmlns:a16="http://schemas.microsoft.com/office/drawing/2014/main" id="{636F2279-B1BF-180D-AEED-4ED7D47178A4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29171" y="3314030"/>
            <a:ext cx="111472" cy="89148"/>
          </a:xfrm>
          <a:prstGeom prst="rect">
            <a:avLst/>
          </a:prstGeom>
        </p:spPr>
      </p:pic>
      <p:sp>
        <p:nvSpPr>
          <p:cNvPr id="9" name="Text 5">
            <a:extLst>
              <a:ext uri="{FF2B5EF4-FFF2-40B4-BE49-F238E27FC236}">
                <a16:creationId xmlns:a16="http://schemas.microsoft.com/office/drawing/2014/main" id="{B956BD05-08E4-E262-DEDA-EA4CE3EE70AD}"/>
              </a:ext>
            </a:extLst>
          </p:cNvPr>
          <p:cNvSpPr/>
          <p:nvPr/>
        </p:nvSpPr>
        <p:spPr>
          <a:xfrm>
            <a:off x="5099596" y="4354711"/>
            <a:ext cx="3509070" cy="30777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ct val="104000"/>
              </a:lnSpc>
              <a:buNone/>
            </a:pPr>
            <a:endParaRPr lang="en-US" sz="2000" dirty="0"/>
          </a:p>
        </p:txBody>
      </p:sp>
      <p:graphicFrame>
        <p:nvGraphicFramePr>
          <p:cNvPr id="7" name="Table 6">
            <a:extLst>
              <a:ext uri="{FF2B5EF4-FFF2-40B4-BE49-F238E27FC236}">
                <a16:creationId xmlns:a16="http://schemas.microsoft.com/office/drawing/2014/main" id="{D26E2D78-CF95-C82C-48AE-AC1CF7584978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592401080"/>
              </p:ext>
            </p:extLst>
          </p:nvPr>
        </p:nvGraphicFramePr>
        <p:xfrm>
          <a:off x="535334" y="822146"/>
          <a:ext cx="7897192" cy="4132972"/>
        </p:xfrm>
        <a:graphic>
          <a:graphicData uri="http://schemas.openxmlformats.org/drawingml/2006/table">
            <a:tbl>
              <a:tblPr/>
              <a:tblGrid>
                <a:gridCol w="1353047">
                  <a:extLst>
                    <a:ext uri="{9D8B030D-6E8A-4147-A177-3AD203B41FA5}">
                      <a16:colId xmlns:a16="http://schemas.microsoft.com/office/drawing/2014/main" val="1679547157"/>
                    </a:ext>
                  </a:extLst>
                </a:gridCol>
                <a:gridCol w="1596174">
                  <a:extLst>
                    <a:ext uri="{9D8B030D-6E8A-4147-A177-3AD203B41FA5}">
                      <a16:colId xmlns:a16="http://schemas.microsoft.com/office/drawing/2014/main" val="978889507"/>
                    </a:ext>
                  </a:extLst>
                </a:gridCol>
                <a:gridCol w="663130">
                  <a:extLst>
                    <a:ext uri="{9D8B030D-6E8A-4147-A177-3AD203B41FA5}">
                      <a16:colId xmlns:a16="http://schemas.microsoft.com/office/drawing/2014/main" val="157766680"/>
                    </a:ext>
                  </a:extLst>
                </a:gridCol>
                <a:gridCol w="977692">
                  <a:extLst>
                    <a:ext uri="{9D8B030D-6E8A-4147-A177-3AD203B41FA5}">
                      <a16:colId xmlns:a16="http://schemas.microsoft.com/office/drawing/2014/main" val="1216640692"/>
                    </a:ext>
                  </a:extLst>
                </a:gridCol>
                <a:gridCol w="1241243">
                  <a:extLst>
                    <a:ext uri="{9D8B030D-6E8A-4147-A177-3AD203B41FA5}">
                      <a16:colId xmlns:a16="http://schemas.microsoft.com/office/drawing/2014/main" val="1885603177"/>
                    </a:ext>
                  </a:extLst>
                </a:gridCol>
                <a:gridCol w="2065906">
                  <a:extLst>
                    <a:ext uri="{9D8B030D-6E8A-4147-A177-3AD203B41FA5}">
                      <a16:colId xmlns:a16="http://schemas.microsoft.com/office/drawing/2014/main" val="987071161"/>
                    </a:ext>
                  </a:extLst>
                </a:gridCol>
              </a:tblGrid>
              <a:tr h="196739">
                <a:tc>
                  <a:txBody>
                    <a:bodyPr/>
                    <a:lstStyle/>
                    <a:p>
                      <a:pPr algn="r">
                        <a:buNone/>
                      </a:pPr>
                      <a:r>
                        <a:rPr lang="en-IN" sz="1050" b="1" dirty="0" err="1"/>
                        <a:t>S.No</a:t>
                      </a:r>
                      <a:endParaRPr lang="en-IN" sz="1050" b="1" dirty="0"/>
                    </a:p>
                  </a:txBody>
                  <a:tcPr marL="16730" marR="16730" marT="8365" marB="8365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050" b="1" dirty="0"/>
                        <a:t>Paper / Research</a:t>
                      </a:r>
                    </a:p>
                  </a:txBody>
                  <a:tcPr marL="16730" marR="16730" marT="8365" marB="8365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>
                        <a:buNone/>
                      </a:pPr>
                      <a:r>
                        <a:rPr lang="en-IN" sz="1050" b="1" dirty="0"/>
                        <a:t>Year</a:t>
                      </a:r>
                    </a:p>
                  </a:txBody>
                  <a:tcPr marL="16730" marR="16730" marT="8365" marB="8365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050" b="1" dirty="0"/>
                        <a:t>Approach</a:t>
                      </a:r>
                    </a:p>
                  </a:txBody>
                  <a:tcPr marL="16730" marR="16730" marT="8365" marB="8365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050" b="1" dirty="0"/>
                        <a:t>Main Contribution</a:t>
                      </a:r>
                    </a:p>
                  </a:txBody>
                  <a:tcPr marL="16730" marR="16730" marT="8365" marB="8365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050" b="1" dirty="0"/>
                        <a:t>Limitation / Gap</a:t>
                      </a:r>
                    </a:p>
                  </a:txBody>
                  <a:tcPr marL="16730" marR="16730" marT="8365" marB="8365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400729267"/>
                  </a:ext>
                </a:extLst>
              </a:tr>
              <a:tr h="609892">
                <a:tc>
                  <a:txBody>
                    <a:bodyPr/>
                    <a:lstStyle/>
                    <a:p>
                      <a:pPr algn="r">
                        <a:buNone/>
                      </a:pPr>
                      <a:r>
                        <a:rPr lang="en-IN" sz="1050" b="0" dirty="0"/>
                        <a:t>1</a:t>
                      </a:r>
                    </a:p>
                  </a:txBody>
                  <a:tcPr marL="16730" marR="16730" marT="8365" marB="8365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050" b="0"/>
                        <a:t>Modeling the Green Cloud Continuum: Integrating Energy Considerations into Cloud–Edge Models</a:t>
                      </a:r>
                    </a:p>
                  </a:txBody>
                  <a:tcPr marL="16730" marR="16730" marT="8365" marB="8365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>
                        <a:buNone/>
                      </a:pPr>
                      <a:r>
                        <a:rPr lang="en-IN" sz="1050" b="0"/>
                        <a:t>2024</a:t>
                      </a:r>
                    </a:p>
                  </a:txBody>
                  <a:tcPr marL="16730" marR="16730" marT="8365" marB="8365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050" b="0"/>
                        <a:t>Green Cloud / Cloud-Edge</a:t>
                      </a:r>
                    </a:p>
                  </a:txBody>
                  <a:tcPr marL="16730" marR="16730" marT="8365" marB="8365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050" b="0"/>
                        <a:t>Integrates energy considerations into cloud-edge models.</a:t>
                      </a:r>
                    </a:p>
                  </a:txBody>
                  <a:tcPr marL="16730" marR="16730" marT="8365" marB="8365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050" b="0"/>
                        <a:t>No integrated live monitoring dashboard.</a:t>
                      </a:r>
                    </a:p>
                  </a:txBody>
                  <a:tcPr marL="16730" marR="16730" marT="8365" marB="8365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40738352"/>
                  </a:ext>
                </a:extLst>
              </a:tr>
              <a:tr h="786957">
                <a:tc>
                  <a:txBody>
                    <a:bodyPr/>
                    <a:lstStyle/>
                    <a:p>
                      <a:pPr algn="r">
                        <a:buNone/>
                      </a:pPr>
                      <a:r>
                        <a:rPr lang="en-IN" sz="1050" b="0" dirty="0"/>
                        <a:t>2</a:t>
                      </a:r>
                    </a:p>
                  </a:txBody>
                  <a:tcPr marL="16730" marR="16730" marT="8365" marB="8365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050" b="0" dirty="0"/>
                        <a:t>Cost and Energy Aware Migration Through Dependency Analysis of VM Components in Virtual Cloud Infrastructure</a:t>
                      </a:r>
                    </a:p>
                  </a:txBody>
                  <a:tcPr marL="16730" marR="16730" marT="8365" marB="8365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>
                        <a:buNone/>
                      </a:pPr>
                      <a:r>
                        <a:rPr lang="en-IN" sz="1050" b="0"/>
                        <a:t>2024</a:t>
                      </a:r>
                    </a:p>
                  </a:txBody>
                  <a:tcPr marL="16730" marR="16730" marT="8365" marB="8365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050" b="0"/>
                        <a:t>Energy-aware migration</a:t>
                      </a:r>
                    </a:p>
                  </a:txBody>
                  <a:tcPr marL="16730" marR="16730" marT="8365" marB="8365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050" b="0"/>
                        <a:t>Considers energy, cost and VM dependencies during migration.</a:t>
                      </a:r>
                    </a:p>
                  </a:txBody>
                  <a:tcPr marL="16730" marR="16730" marT="8365" marB="8365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050" b="0"/>
                        <a:t>Mainly focuses on migration strategy.</a:t>
                      </a:r>
                    </a:p>
                  </a:txBody>
                  <a:tcPr marL="16730" marR="16730" marT="8365" marB="8365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682328493"/>
                  </a:ext>
                </a:extLst>
              </a:tr>
              <a:tr h="668913">
                <a:tc>
                  <a:txBody>
                    <a:bodyPr/>
                    <a:lstStyle/>
                    <a:p>
                      <a:pPr algn="r">
                        <a:buNone/>
                      </a:pPr>
                      <a:r>
                        <a:rPr lang="en-IN" sz="1050" b="0" dirty="0"/>
                        <a:t>3</a:t>
                      </a:r>
                    </a:p>
                  </a:txBody>
                  <a:tcPr marL="16730" marR="16730" marT="8365" marB="8365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050" b="0" dirty="0"/>
                        <a:t>Energy-efficient Cloud Systems: Virtual Machine Consolidation with Γ-Robustness Optimization</a:t>
                      </a:r>
                    </a:p>
                  </a:txBody>
                  <a:tcPr marL="16730" marR="16730" marT="8365" marB="8365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>
                        <a:buNone/>
                      </a:pPr>
                      <a:r>
                        <a:rPr lang="en-IN" sz="1050" b="0" dirty="0"/>
                        <a:t>2025</a:t>
                      </a:r>
                    </a:p>
                  </a:txBody>
                  <a:tcPr marL="16730" marR="16730" marT="8365" marB="8365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050" b="0"/>
                        <a:t>VM consolidation</a:t>
                      </a:r>
                    </a:p>
                  </a:txBody>
                  <a:tcPr marL="16730" marR="16730" marT="8365" marB="8365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050" b="0"/>
                        <a:t>Improves resource utilization and energy efficiency.</a:t>
                      </a:r>
                    </a:p>
                  </a:txBody>
                  <a:tcPr marL="16730" marR="16730" marT="8365" marB="8365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050" b="0"/>
                        <a:t>Focuses mainly on optimization.</a:t>
                      </a:r>
                    </a:p>
                  </a:txBody>
                  <a:tcPr marL="16730" marR="16730" marT="8365" marB="8365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292345625"/>
                  </a:ext>
                </a:extLst>
              </a:tr>
              <a:tr h="1023045">
                <a:tc>
                  <a:txBody>
                    <a:bodyPr/>
                    <a:lstStyle/>
                    <a:p>
                      <a:pPr algn="r">
                        <a:buNone/>
                      </a:pPr>
                      <a:r>
                        <a:rPr lang="en-IN" sz="1050" b="0" dirty="0"/>
                        <a:t>4</a:t>
                      </a:r>
                    </a:p>
                  </a:txBody>
                  <a:tcPr marL="16730" marR="16730" marT="8365" marB="8365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050" b="0"/>
                        <a:t>Towards Dynamic Virtual Machine Placement Based on Safety Parameters and Resource Utilization Fluctuation for Energy Savings and QoS Improvement</a:t>
                      </a:r>
                    </a:p>
                  </a:txBody>
                  <a:tcPr marL="16730" marR="16730" marT="8365" marB="8365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>
                        <a:buNone/>
                      </a:pPr>
                      <a:r>
                        <a:rPr lang="en-IN" sz="1050" b="0"/>
                        <a:t>2025</a:t>
                      </a:r>
                    </a:p>
                  </a:txBody>
                  <a:tcPr marL="16730" marR="16730" marT="8365" marB="8365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050" b="0"/>
                        <a:t>Dynamic VM placement + CloudSim</a:t>
                      </a:r>
                    </a:p>
                  </a:txBody>
                  <a:tcPr marL="16730" marR="16730" marT="8365" marB="8365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050" b="0"/>
                        <a:t>Reduces energy, migrations and SLA violations.</a:t>
                      </a:r>
                    </a:p>
                  </a:txBody>
                  <a:tcPr marL="16730" marR="16730" marT="8365" marB="8365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050" b="0"/>
                        <a:t>Focuses on a specific placement algorithm.</a:t>
                      </a:r>
                    </a:p>
                  </a:txBody>
                  <a:tcPr marL="16730" marR="16730" marT="8365" marB="8365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730761632"/>
                  </a:ext>
                </a:extLst>
              </a:tr>
              <a:tr h="550871">
                <a:tc>
                  <a:txBody>
                    <a:bodyPr/>
                    <a:lstStyle/>
                    <a:p>
                      <a:pPr algn="r">
                        <a:buNone/>
                      </a:pPr>
                      <a:r>
                        <a:rPr lang="en-IN" sz="1050" b="0" dirty="0"/>
                        <a:t>5</a:t>
                      </a:r>
                    </a:p>
                  </a:txBody>
                  <a:tcPr marL="16730" marR="16730" marT="8365" marB="8365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050" b="0"/>
                        <a:t>Quality of Service Driven Energy-efficient Computing to Enhance Sustainable Cloud</a:t>
                      </a:r>
                    </a:p>
                  </a:txBody>
                  <a:tcPr marL="16730" marR="16730" marT="8365" marB="8365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>
                        <a:buNone/>
                      </a:pPr>
                      <a:r>
                        <a:rPr lang="en-IN" sz="1050" b="0"/>
                        <a:t>2026</a:t>
                      </a:r>
                    </a:p>
                  </a:txBody>
                  <a:tcPr marL="16730" marR="16730" marT="8365" marB="8365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050" b="0"/>
                        <a:t>Optimization + CloudSim</a:t>
                      </a:r>
                    </a:p>
                  </a:txBody>
                  <a:tcPr marL="16730" marR="16730" marT="8365" marB="8365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050" b="0" dirty="0"/>
                        <a:t>Optimizes VM placement for energy and QoS.</a:t>
                      </a:r>
                    </a:p>
                  </a:txBody>
                  <a:tcPr marL="16730" marR="16730" marT="8365" marB="8365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050" b="0" dirty="0"/>
                        <a:t>Mainly focuses on optimization, not end-to-end monitoring.</a:t>
                      </a:r>
                    </a:p>
                  </a:txBody>
                  <a:tcPr marL="16730" marR="16730" marT="8365" marB="8365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379287981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2320409859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2753BE6-2B65-9A70-872F-857437FDD06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>
            <a:extLst>
              <a:ext uri="{FF2B5EF4-FFF2-40B4-BE49-F238E27FC236}">
                <a16:creationId xmlns:a16="http://schemas.microsoft.com/office/drawing/2014/main" id="{8B44FD83-E75C-70E9-2178-81D8AF225386}"/>
              </a:ext>
            </a:extLst>
          </p:cNvPr>
          <p:cNvSpPr/>
          <p:nvPr/>
        </p:nvSpPr>
        <p:spPr>
          <a:xfrm>
            <a:off x="540023" y="429369"/>
            <a:ext cx="8063954" cy="22301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2000" dirty="0">
                <a:solidFill>
                  <a:srgbClr val="383838"/>
                </a:solidFill>
                <a:latin typeface="Patrick Hand" pitchFamily="34" charset="0"/>
                <a:ea typeface="Patrick Hand" pitchFamily="34" charset="-122"/>
                <a:cs typeface="Patrick Hand" pitchFamily="34" charset="-120"/>
              </a:rPr>
              <a:t>References</a:t>
            </a:r>
            <a:endParaRPr lang="en-US" sz="2000" dirty="0"/>
          </a:p>
        </p:txBody>
      </p:sp>
      <p:sp>
        <p:nvSpPr>
          <p:cNvPr id="3" name="Text 1">
            <a:extLst>
              <a:ext uri="{FF2B5EF4-FFF2-40B4-BE49-F238E27FC236}">
                <a16:creationId xmlns:a16="http://schemas.microsoft.com/office/drawing/2014/main" id="{FB172F47-61AD-0B91-DEF8-0B0433B47F42}"/>
              </a:ext>
            </a:extLst>
          </p:cNvPr>
          <p:cNvSpPr/>
          <p:nvPr/>
        </p:nvSpPr>
        <p:spPr>
          <a:xfrm>
            <a:off x="540023" y="1055117"/>
            <a:ext cx="4337224" cy="76557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Autofit/>
          </a:bodyPr>
          <a:lstStyle/>
          <a:p>
            <a:endParaRPr lang="en-IN" sz="1200" dirty="0"/>
          </a:p>
        </p:txBody>
      </p:sp>
      <p:sp>
        <p:nvSpPr>
          <p:cNvPr id="4" name="Text 2">
            <a:extLst>
              <a:ext uri="{FF2B5EF4-FFF2-40B4-BE49-F238E27FC236}">
                <a16:creationId xmlns:a16="http://schemas.microsoft.com/office/drawing/2014/main" id="{28691EBD-5928-8404-57EF-4EC3F7117827}"/>
              </a:ext>
            </a:extLst>
          </p:cNvPr>
          <p:cNvSpPr/>
          <p:nvPr/>
        </p:nvSpPr>
        <p:spPr>
          <a:xfrm>
            <a:off x="706784" y="856061"/>
            <a:ext cx="7620352" cy="33776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Autofit/>
          </a:bodyPr>
          <a:lstStyle/>
          <a:p>
            <a:pPr marL="171450" indent="-171450" algn="just">
              <a:lnSpc>
                <a:spcPct val="105000"/>
              </a:lnSpc>
              <a:buFont typeface="Arial" panose="020B0604020202020204" pitchFamily="34" charset="0"/>
              <a:buChar char="•"/>
            </a:pPr>
            <a:r>
              <a:rPr lang="en-US" sz="1200" dirty="0" err="1">
                <a:solidFill>
                  <a:srgbClr val="383838"/>
                </a:solidFill>
                <a:latin typeface="Patrick Hand" pitchFamily="34" charset="0"/>
                <a:ea typeface="Patrick Hand" pitchFamily="34" charset="-122"/>
                <a:cs typeface="Patrick Hand" pitchFamily="34" charset="-120"/>
              </a:rPr>
              <a:t>Amahrouch</a:t>
            </a:r>
            <a:r>
              <a:rPr lang="en-US" sz="1200" dirty="0">
                <a:solidFill>
                  <a:srgbClr val="383838"/>
                </a:solidFill>
                <a:latin typeface="Patrick Hand" pitchFamily="34" charset="0"/>
                <a:ea typeface="Patrick Hand" pitchFamily="34" charset="-122"/>
                <a:cs typeface="Patrick Hand" pitchFamily="34" charset="-120"/>
              </a:rPr>
              <a:t>, A., Saadi, Y., &amp; El </a:t>
            </a:r>
            <a:r>
              <a:rPr lang="en-US" sz="1200" dirty="0" err="1">
                <a:solidFill>
                  <a:srgbClr val="383838"/>
                </a:solidFill>
                <a:latin typeface="Patrick Hand" pitchFamily="34" charset="0"/>
                <a:ea typeface="Patrick Hand" pitchFamily="34" charset="-122"/>
                <a:cs typeface="Patrick Hand" pitchFamily="34" charset="-120"/>
              </a:rPr>
              <a:t>Kafhali</a:t>
            </a:r>
            <a:r>
              <a:rPr lang="en-US" sz="1200" dirty="0">
                <a:solidFill>
                  <a:srgbClr val="383838"/>
                </a:solidFill>
                <a:latin typeface="Patrick Hand" pitchFamily="34" charset="0"/>
                <a:ea typeface="Patrick Hand" pitchFamily="34" charset="-122"/>
                <a:cs typeface="Patrick Hand" pitchFamily="34" charset="-120"/>
              </a:rPr>
              <a:t>, S. (2025). Optimizing energy efficiency in cloud data centers: A reinforcement learning-based virtual machine placement strategy. Network, 5(2). </a:t>
            </a:r>
            <a:r>
              <a:rPr lang="en-US" sz="1200" dirty="0">
                <a:solidFill>
                  <a:srgbClr val="383838"/>
                </a:solidFill>
                <a:latin typeface="Patrick Hand" pitchFamily="34" charset="0"/>
                <a:ea typeface="Patrick Hand" pitchFamily="34" charset="-122"/>
                <a:cs typeface="Patrick Hand" pitchFamily="34" charset="-120"/>
                <a:hlinkClick r:id="rId3"/>
              </a:rPr>
              <a:t>https://doi.org/10.3390/network5020017</a:t>
            </a:r>
            <a:endParaRPr lang="en-US" sz="1200" dirty="0">
              <a:solidFill>
                <a:srgbClr val="383838"/>
              </a:solidFill>
              <a:latin typeface="Patrick Hand" pitchFamily="34" charset="0"/>
              <a:ea typeface="Patrick Hand" pitchFamily="34" charset="-122"/>
              <a:cs typeface="Patrick Hand" pitchFamily="34" charset="-120"/>
            </a:endParaRPr>
          </a:p>
          <a:p>
            <a:pPr marL="171450" indent="-171450" algn="just">
              <a:lnSpc>
                <a:spcPct val="105000"/>
              </a:lnSpc>
              <a:buFont typeface="Arial" panose="020B0604020202020204" pitchFamily="34" charset="0"/>
              <a:buChar char="•"/>
            </a:pPr>
            <a:r>
              <a:rPr lang="en-US" sz="1200" dirty="0" err="1">
                <a:solidFill>
                  <a:srgbClr val="383838"/>
                </a:solidFill>
                <a:latin typeface="Patrick Hand" pitchFamily="34" charset="0"/>
                <a:ea typeface="Patrick Hand" pitchFamily="34" charset="-122"/>
                <a:cs typeface="Patrick Hand" pitchFamily="34" charset="-120"/>
              </a:rPr>
              <a:t>Rasoulpour</a:t>
            </a:r>
            <a:r>
              <a:rPr lang="en-US" sz="1200" dirty="0">
                <a:solidFill>
                  <a:srgbClr val="383838"/>
                </a:solidFill>
                <a:latin typeface="Patrick Hand" pitchFamily="34" charset="0"/>
                <a:ea typeface="Patrick Hand" pitchFamily="34" charset="-122"/>
                <a:cs typeface="Patrick Hand" pitchFamily="34" charset="-120"/>
              </a:rPr>
              <a:t> </a:t>
            </a:r>
            <a:r>
              <a:rPr lang="en-US" sz="1200" dirty="0" err="1">
                <a:solidFill>
                  <a:srgbClr val="383838"/>
                </a:solidFill>
                <a:latin typeface="Patrick Hand" pitchFamily="34" charset="0"/>
                <a:ea typeface="Patrick Hand" pitchFamily="34" charset="-122"/>
                <a:cs typeface="Patrick Hand" pitchFamily="34" charset="-120"/>
              </a:rPr>
              <a:t>Shabestari</a:t>
            </a:r>
            <a:r>
              <a:rPr lang="en-US" sz="1200" dirty="0">
                <a:solidFill>
                  <a:srgbClr val="383838"/>
                </a:solidFill>
                <a:latin typeface="Patrick Hand" pitchFamily="34" charset="0"/>
                <a:ea typeface="Patrick Hand" pitchFamily="34" charset="-122"/>
                <a:cs typeface="Patrick Hand" pitchFamily="34" charset="-120"/>
              </a:rPr>
              <a:t>, E., &amp; Shameli-Sendi, A. (2025). An intelligent VM placement method for minimizing energy cost and carbon emission in distributed cloud data centers. Journal of Grid Computing, 23, Article 12. </a:t>
            </a:r>
            <a:r>
              <a:rPr lang="en-US" sz="1200" dirty="0">
                <a:solidFill>
                  <a:srgbClr val="383838"/>
                </a:solidFill>
                <a:latin typeface="Patrick Hand" pitchFamily="34" charset="0"/>
                <a:ea typeface="Patrick Hand" pitchFamily="34" charset="-122"/>
                <a:cs typeface="Patrick Hand" pitchFamily="34" charset="-120"/>
                <a:hlinkClick r:id="rId4"/>
              </a:rPr>
              <a:t>https://doi.org/10.1007/s10723-025-09798-2</a:t>
            </a:r>
            <a:endParaRPr lang="en-US" sz="1200" dirty="0">
              <a:solidFill>
                <a:srgbClr val="383838"/>
              </a:solidFill>
              <a:latin typeface="Patrick Hand" pitchFamily="34" charset="0"/>
              <a:ea typeface="Patrick Hand" pitchFamily="34" charset="-122"/>
              <a:cs typeface="Patrick Hand" pitchFamily="34" charset="-120"/>
            </a:endParaRPr>
          </a:p>
          <a:p>
            <a:pPr marL="171450" indent="-171450" algn="just">
              <a:lnSpc>
                <a:spcPct val="105000"/>
              </a:lnSpc>
              <a:buFont typeface="Arial" panose="020B0604020202020204" pitchFamily="34" charset="0"/>
              <a:buChar char="•"/>
            </a:pPr>
            <a:r>
              <a:rPr lang="en-US" sz="1200" dirty="0">
                <a:solidFill>
                  <a:srgbClr val="383838"/>
                </a:solidFill>
                <a:latin typeface="Patrick Hand" pitchFamily="34" charset="0"/>
                <a:ea typeface="Patrick Hand" pitchFamily="34" charset="-122"/>
                <a:cs typeface="Patrick Hand" pitchFamily="34" charset="-120"/>
              </a:rPr>
              <a:t>Andreoli, R., Zhao, J., Cucinotta, T., &amp; </a:t>
            </a:r>
            <a:r>
              <a:rPr lang="en-US" sz="1200" dirty="0" err="1">
                <a:solidFill>
                  <a:srgbClr val="383838"/>
                </a:solidFill>
                <a:latin typeface="Patrick Hand" pitchFamily="34" charset="0"/>
                <a:ea typeface="Patrick Hand" pitchFamily="34" charset="-122"/>
                <a:cs typeface="Patrick Hand" pitchFamily="34" charset="-120"/>
              </a:rPr>
              <a:t>Buyya</a:t>
            </a:r>
            <a:r>
              <a:rPr lang="en-US" sz="1200" dirty="0">
                <a:solidFill>
                  <a:srgbClr val="383838"/>
                </a:solidFill>
                <a:latin typeface="Patrick Hand" pitchFamily="34" charset="0"/>
                <a:ea typeface="Patrick Hand" pitchFamily="34" charset="-122"/>
                <a:cs typeface="Patrick Hand" pitchFamily="34" charset="-120"/>
              </a:rPr>
              <a:t>, R. (2024). </a:t>
            </a:r>
            <a:r>
              <a:rPr lang="en-US" sz="1200" dirty="0" err="1">
                <a:solidFill>
                  <a:srgbClr val="383838"/>
                </a:solidFill>
                <a:latin typeface="Patrick Hand" pitchFamily="34" charset="0"/>
                <a:ea typeface="Patrick Hand" pitchFamily="34" charset="-122"/>
                <a:cs typeface="Patrick Hand" pitchFamily="34" charset="-120"/>
              </a:rPr>
              <a:t>CloudSim</a:t>
            </a:r>
            <a:r>
              <a:rPr lang="en-US" sz="1200" dirty="0">
                <a:solidFill>
                  <a:srgbClr val="383838"/>
                </a:solidFill>
                <a:latin typeface="Patrick Hand" pitchFamily="34" charset="0"/>
                <a:ea typeface="Patrick Hand" pitchFamily="34" charset="-122"/>
                <a:cs typeface="Patrick Hand" pitchFamily="34" charset="-120"/>
              </a:rPr>
              <a:t> 7G: An integrated toolkit for modeling and simulation of future generation cloud computing environments. </a:t>
            </a:r>
            <a:r>
              <a:rPr lang="en-US" sz="1200" dirty="0" err="1">
                <a:solidFill>
                  <a:srgbClr val="383838"/>
                </a:solidFill>
                <a:latin typeface="Patrick Hand" pitchFamily="34" charset="0"/>
                <a:ea typeface="Patrick Hand" pitchFamily="34" charset="-122"/>
                <a:cs typeface="Patrick Hand" pitchFamily="34" charset="-120"/>
              </a:rPr>
              <a:t>arXiv</a:t>
            </a:r>
            <a:r>
              <a:rPr lang="en-US" sz="1200" dirty="0">
                <a:solidFill>
                  <a:srgbClr val="383838"/>
                </a:solidFill>
                <a:latin typeface="Patrick Hand" pitchFamily="34" charset="0"/>
                <a:ea typeface="Patrick Hand" pitchFamily="34" charset="-122"/>
                <a:cs typeface="Patrick Hand" pitchFamily="34" charset="-120"/>
              </a:rPr>
              <a:t>. </a:t>
            </a:r>
            <a:r>
              <a:rPr lang="en-US" sz="1200" dirty="0">
                <a:solidFill>
                  <a:srgbClr val="383838"/>
                </a:solidFill>
                <a:latin typeface="Patrick Hand" pitchFamily="34" charset="0"/>
                <a:ea typeface="Patrick Hand" pitchFamily="34" charset="-122"/>
                <a:cs typeface="Patrick Hand" pitchFamily="34" charset="-120"/>
                <a:hlinkClick r:id="rId5"/>
              </a:rPr>
              <a:t>https://doi.org/10.48550/arXiv.2408.13386</a:t>
            </a:r>
            <a:endParaRPr lang="en-US" sz="1200" dirty="0">
              <a:solidFill>
                <a:srgbClr val="383838"/>
              </a:solidFill>
              <a:latin typeface="Patrick Hand" pitchFamily="34" charset="0"/>
              <a:ea typeface="Patrick Hand" pitchFamily="34" charset="-122"/>
              <a:cs typeface="Patrick Hand" pitchFamily="34" charset="-120"/>
            </a:endParaRPr>
          </a:p>
          <a:p>
            <a:pPr marL="171450" indent="-171450" algn="just">
              <a:lnSpc>
                <a:spcPct val="105000"/>
              </a:lnSpc>
              <a:buFont typeface="Arial" panose="020B0604020202020204" pitchFamily="34" charset="0"/>
              <a:buChar char="•"/>
            </a:pPr>
            <a:r>
              <a:rPr lang="en-US" sz="1200" dirty="0" err="1">
                <a:solidFill>
                  <a:srgbClr val="383838"/>
                </a:solidFill>
                <a:latin typeface="Patrick Hand" pitchFamily="34" charset="0"/>
                <a:ea typeface="Patrick Hand" pitchFamily="34" charset="-122"/>
                <a:cs typeface="Patrick Hand" pitchFamily="34" charset="-120"/>
              </a:rPr>
              <a:t>Panggabean</a:t>
            </a:r>
            <a:r>
              <a:rPr lang="en-US" sz="1200" dirty="0">
                <a:solidFill>
                  <a:srgbClr val="383838"/>
                </a:solidFill>
                <a:latin typeface="Patrick Hand" pitchFamily="34" charset="0"/>
                <a:ea typeface="Patrick Hand" pitchFamily="34" charset="-122"/>
                <a:cs typeface="Patrick Hand" pitchFamily="34" charset="-120"/>
              </a:rPr>
              <a:t>, C., Verma C., D., Gogoi, B., Limbu, R., &amp; Sarker, R. (2025). Optimized cloud resource allocation using genetic algorithms for energy efficiency and QoS assurance. </a:t>
            </a:r>
            <a:r>
              <a:rPr lang="en-US" sz="1200" dirty="0" err="1">
                <a:solidFill>
                  <a:srgbClr val="383838"/>
                </a:solidFill>
                <a:latin typeface="Patrick Hand" pitchFamily="34" charset="0"/>
                <a:ea typeface="Patrick Hand" pitchFamily="34" charset="-122"/>
                <a:cs typeface="Patrick Hand" pitchFamily="34" charset="-120"/>
              </a:rPr>
              <a:t>arXiv</a:t>
            </a:r>
            <a:r>
              <a:rPr lang="en-US" sz="1200" dirty="0">
                <a:solidFill>
                  <a:srgbClr val="383838"/>
                </a:solidFill>
                <a:latin typeface="Patrick Hand" pitchFamily="34" charset="0"/>
                <a:ea typeface="Patrick Hand" pitchFamily="34" charset="-122"/>
                <a:cs typeface="Patrick Hand" pitchFamily="34" charset="-120"/>
              </a:rPr>
              <a:t>. </a:t>
            </a:r>
            <a:r>
              <a:rPr lang="en-US" sz="1200" dirty="0">
                <a:solidFill>
                  <a:srgbClr val="383838"/>
                </a:solidFill>
                <a:latin typeface="Patrick Hand" pitchFamily="34" charset="0"/>
                <a:ea typeface="Patrick Hand" pitchFamily="34" charset="-122"/>
                <a:cs typeface="Patrick Hand" pitchFamily="34" charset="-120"/>
                <a:hlinkClick r:id="rId6"/>
              </a:rPr>
              <a:t>https://doi.org/10.48550/arXiv.2504.17675</a:t>
            </a:r>
            <a:endParaRPr lang="en-US" sz="1200" dirty="0">
              <a:solidFill>
                <a:srgbClr val="383838"/>
              </a:solidFill>
              <a:latin typeface="Patrick Hand" pitchFamily="34" charset="0"/>
              <a:ea typeface="Patrick Hand" pitchFamily="34" charset="-122"/>
              <a:cs typeface="Patrick Hand" pitchFamily="34" charset="-120"/>
            </a:endParaRPr>
          </a:p>
          <a:p>
            <a:pPr marL="171450" indent="-171450" algn="just">
              <a:lnSpc>
                <a:spcPct val="105000"/>
              </a:lnSpc>
              <a:buFont typeface="Arial" panose="020B0604020202020204" pitchFamily="34" charset="0"/>
              <a:buChar char="•"/>
            </a:pPr>
            <a:r>
              <a:rPr lang="en-US" sz="1200" dirty="0">
                <a:solidFill>
                  <a:srgbClr val="383838"/>
                </a:solidFill>
                <a:latin typeface="Patrick Hand" pitchFamily="34" charset="0"/>
                <a:ea typeface="Patrick Hand" pitchFamily="34" charset="-122"/>
                <a:cs typeface="Patrick Hand" pitchFamily="34" charset="-120"/>
              </a:rPr>
              <a:t>Baydoun, A. M., &amp; Zekri, A. S. (2025). Towards efficient VM placement: A two-stage ACO-PSO approach for green cloud infrastructure. </a:t>
            </a:r>
            <a:r>
              <a:rPr lang="en-US" sz="1200" dirty="0" err="1">
                <a:solidFill>
                  <a:srgbClr val="383838"/>
                </a:solidFill>
                <a:latin typeface="Patrick Hand" pitchFamily="34" charset="0"/>
                <a:ea typeface="Patrick Hand" pitchFamily="34" charset="-122"/>
                <a:cs typeface="Patrick Hand" pitchFamily="34" charset="-120"/>
              </a:rPr>
              <a:t>arXiv</a:t>
            </a:r>
            <a:r>
              <a:rPr lang="en-US" sz="1200" dirty="0">
                <a:solidFill>
                  <a:srgbClr val="383838"/>
                </a:solidFill>
                <a:latin typeface="Patrick Hand" pitchFamily="34" charset="0"/>
                <a:ea typeface="Patrick Hand" pitchFamily="34" charset="-122"/>
                <a:cs typeface="Patrick Hand" pitchFamily="34" charset="-120"/>
              </a:rPr>
              <a:t>. </a:t>
            </a:r>
            <a:r>
              <a:rPr lang="en-US" sz="1200" dirty="0">
                <a:solidFill>
                  <a:srgbClr val="383838"/>
                </a:solidFill>
                <a:latin typeface="Patrick Hand" pitchFamily="34" charset="0"/>
                <a:ea typeface="Patrick Hand" pitchFamily="34" charset="-122"/>
                <a:cs typeface="Patrick Hand" pitchFamily="34" charset="-120"/>
                <a:hlinkClick r:id="rId7"/>
              </a:rPr>
              <a:t>https://doi.org/10.48550/arXiv.2510.00541</a:t>
            </a:r>
            <a:endParaRPr lang="en-US" sz="1200" dirty="0">
              <a:solidFill>
                <a:srgbClr val="383838"/>
              </a:solidFill>
              <a:latin typeface="Patrick Hand" pitchFamily="34" charset="0"/>
              <a:ea typeface="Patrick Hand" pitchFamily="34" charset="-122"/>
              <a:cs typeface="Patrick Hand" pitchFamily="34" charset="-120"/>
            </a:endParaRPr>
          </a:p>
          <a:p>
            <a:pPr marL="171450" indent="-171450" algn="just">
              <a:lnSpc>
                <a:spcPct val="105000"/>
              </a:lnSpc>
              <a:buFont typeface="Arial" panose="020B0604020202020204" pitchFamily="34" charset="0"/>
              <a:buChar char="•"/>
            </a:pPr>
            <a:r>
              <a:rPr lang="en-US" sz="1200" dirty="0">
                <a:solidFill>
                  <a:srgbClr val="383838"/>
                </a:solidFill>
                <a:latin typeface="Patrick Hand" pitchFamily="34" charset="0"/>
                <a:ea typeface="Patrick Hand" pitchFamily="34" charset="-122"/>
                <a:cs typeface="Patrick Hand" pitchFamily="34" charset="-120"/>
              </a:rPr>
              <a:t>Semwal, A. (2026). Optimizing cloud energy use with artificial intelligence and machine learning. </a:t>
            </a:r>
            <a:r>
              <a:rPr lang="en-US" sz="1200" dirty="0" err="1">
                <a:solidFill>
                  <a:srgbClr val="383838"/>
                </a:solidFill>
                <a:latin typeface="Patrick Hand" pitchFamily="34" charset="0"/>
                <a:ea typeface="Patrick Hand" pitchFamily="34" charset="-122"/>
                <a:cs typeface="Patrick Hand" pitchFamily="34" charset="-120"/>
              </a:rPr>
              <a:t>Cureus</a:t>
            </a:r>
            <a:r>
              <a:rPr lang="en-US" sz="1200" dirty="0">
                <a:solidFill>
                  <a:srgbClr val="383838"/>
                </a:solidFill>
                <a:latin typeface="Patrick Hand" pitchFamily="34" charset="0"/>
                <a:ea typeface="Patrick Hand" pitchFamily="34" charset="-122"/>
                <a:cs typeface="Patrick Hand" pitchFamily="34" charset="-120"/>
              </a:rPr>
              <a:t> Journals. https://www.cureusjournals.com/articles/9383-optimizing-cloud-energy-use-with-artificial-intelligence-and-machine-learning</a:t>
            </a:r>
            <a:endParaRPr lang="en-US" sz="1200" dirty="0"/>
          </a:p>
        </p:txBody>
      </p:sp>
      <p:pic>
        <p:nvPicPr>
          <p:cNvPr id="6" name="Image 0" descr="preencoded.png">
            <a:extLst>
              <a:ext uri="{FF2B5EF4-FFF2-40B4-BE49-F238E27FC236}">
                <a16:creationId xmlns:a16="http://schemas.microsoft.com/office/drawing/2014/main" id="{3F3BD4B8-7937-DD8A-7324-866C8D3A58BC}"/>
              </a:ext>
            </a:extLst>
      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629171" y="3314030"/>
            <a:ext cx="111472" cy="89148"/>
          </a:xfrm>
          <a:prstGeom prst="rect">
            <a:avLst/>
          </a:prstGeom>
        </p:spPr>
      </p:pic>
      <p:sp>
        <p:nvSpPr>
          <p:cNvPr id="9" name="Text 5">
            <a:extLst>
              <a:ext uri="{FF2B5EF4-FFF2-40B4-BE49-F238E27FC236}">
                <a16:creationId xmlns:a16="http://schemas.microsoft.com/office/drawing/2014/main" id="{AEF7887C-6127-C290-4EF8-92A35070863F}"/>
              </a:ext>
            </a:extLst>
          </p:cNvPr>
          <p:cNvSpPr/>
          <p:nvPr/>
        </p:nvSpPr>
        <p:spPr>
          <a:xfrm>
            <a:off x="5099596" y="4354711"/>
            <a:ext cx="3509070" cy="30777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ct val="104000"/>
              </a:lnSpc>
              <a:buNone/>
            </a:pPr>
            <a:endParaRPr lang="en-US" sz="2000" dirty="0"/>
          </a:p>
        </p:txBody>
      </p:sp>
    </p:spTree>
    <p:extLst>
      <p:ext uri="{BB962C8B-B14F-4D97-AF65-F5344CB8AC3E}">
        <p14:creationId xmlns:p14="http://schemas.microsoft.com/office/powerpoint/2010/main" val="8933032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415</TotalTime>
  <Words>1165</Words>
  <Application>Microsoft Office PowerPoint</Application>
  <PresentationFormat>On-screen Show (16:9)</PresentationFormat>
  <Paragraphs>150</Paragraphs>
  <Slides>13</Slides>
  <Notes>13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13</vt:i4>
      </vt:variant>
    </vt:vector>
  </HeadingPairs>
  <TitlesOfParts>
    <vt:vector size="16" baseType="lpstr">
      <vt:lpstr>Patrick Hand</vt:lpstr>
      <vt:lpstr>Arial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>Deepak Rajesh</dc:creator>
  <cp:lastModifiedBy>Deepak Rajesh</cp:lastModifiedBy>
  <cp:revision>7</cp:revision>
  <dcterms:created xsi:type="dcterms:W3CDTF">2026-08-07T06:01:25Z</dcterms:created>
  <dcterms:modified xsi:type="dcterms:W3CDTF">2026-08-21T16:41:29Z</dcterms:modified>
</cp:coreProperties>
</file>