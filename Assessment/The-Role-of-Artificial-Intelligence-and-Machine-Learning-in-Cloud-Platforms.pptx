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99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228576"/>
            <a:ext cx="4722763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Role of Artificial Intelligence and Machine Learning in Cloud Platforms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3301826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Computing and Big Data Analytics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Deepak R |  192511008  |</a:t>
            </a:r>
            <a:endParaRPr lang="en-US" sz="1400" dirty="0"/>
          </a:p>
        </p:txBody>
      </p:sp>
      <p:pic>
        <p:nvPicPr>
          <p:cNvPr id="5" name="Picture 4" descr="The Future of Cloud Computing: How AI and ML are Shaping the Industry | K21  Academy - K21 Academy">
            <a:extLst>
              <a:ext uri="{FF2B5EF4-FFF2-40B4-BE49-F238E27FC236}">
                <a16:creationId xmlns:a16="http://schemas.microsoft.com/office/drawing/2014/main" id="{3BCFD4B3-A8E3-79FD-3EEF-3EF491D69C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600" t="10160" b="26196"/>
          <a:stretch>
            <a:fillRect/>
          </a:stretch>
        </p:blipFill>
        <p:spPr>
          <a:xfrm>
            <a:off x="5760721" y="1055469"/>
            <a:ext cx="2938754" cy="31722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15677"/>
            <a:ext cx="4722763" cy="726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Are AI, ML, and Cloud Computing?</a:t>
            </a:r>
            <a:endParaRPr lang="en-US" sz="2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72183"/>
            <a:ext cx="7986699" cy="7990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283" y="1397198"/>
            <a:ext cx="746722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Artificial Intelligence (AI)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78283" y="1630710"/>
            <a:ext cx="746722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of human intelligence — enabling machines to learn, reason, recognize patterns, and make decisions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57710"/>
            <a:ext cx="7986699" cy="7990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8283" y="2282726"/>
            <a:ext cx="746722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Machine Learning (ML)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78283" y="2516237"/>
            <a:ext cx="746722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subset of AI where systems learn from historical data to make predictions without explicit programming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43238"/>
            <a:ext cx="7986699" cy="7990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8283" y="3168253"/>
            <a:ext cx="746722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Computing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78283" y="3401764"/>
            <a:ext cx="746722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of computing resources — servers, storage, databases, networking, and software — over the Internet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28765"/>
            <a:ext cx="7986699" cy="7990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8283" y="4053780"/>
            <a:ext cx="746722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Combine Them?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78283" y="4287292"/>
            <a:ext cx="746722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provides the infrastructure; AI/ML provide the intelligence — together they power scalable, real-time intelligent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746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AI Needs the Cloud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3844"/>
            <a:ext cx="5204073" cy="29489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6600" y="1016645"/>
            <a:ext cx="166092" cy="1660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34944" y="1013222"/>
            <a:ext cx="231762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Massive Computing Power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334944" y="1281336"/>
            <a:ext cx="231762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 clusters on-demand for deep learning workloads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6600" y="1773287"/>
            <a:ext cx="166092" cy="1660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34944" y="1769864"/>
            <a:ext cx="231762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Unlimited Storage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334944" y="2037978"/>
            <a:ext cx="231762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Petabyte-scale data lakes for training datasets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6600" y="2529929"/>
            <a:ext cx="166092" cy="1660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34944" y="2526506"/>
            <a:ext cx="231762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Scalability &amp; Cost Efficiency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334944" y="2794620"/>
            <a:ext cx="231762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Pay-as-you-go model eliminates upfront hardware investment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6600" y="3286571"/>
            <a:ext cx="166092" cy="1660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34944" y="3283148"/>
            <a:ext cx="231762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Processing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334944" y="3551262"/>
            <a:ext cx="231762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analytics and instant inference at global scale</a:t>
            </a:r>
            <a:endParaRPr lang="en-US" sz="8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6600" y="4043214"/>
            <a:ext cx="166092" cy="1660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334944" y="4039791"/>
            <a:ext cx="231762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Global Accessibility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6334944" y="4307904"/>
            <a:ext cx="231762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models anywhere; access from any device</a:t>
            </a:r>
            <a:endParaRPr lang="en-US" sz="850" dirty="0"/>
          </a:p>
        </p:txBody>
      </p:sp>
      <p:pic>
        <p:nvPicPr>
          <p:cNvPr id="19" name="Picture 18" descr="The Role of AI in Cloud Computing">
            <a:extLst>
              <a:ext uri="{FF2B5EF4-FFF2-40B4-BE49-F238E27FC236}">
                <a16:creationId xmlns:a16="http://schemas.microsoft.com/office/drawing/2014/main" id="{7006C264-45AF-F6E4-2D94-01C951FB3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314403"/>
            <a:ext cx="5204073" cy="2978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8151763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AI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57560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pipeline: raw data flows in, intelligent predictions flow out, and feedback loops retrain the model automatically.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29767"/>
            <a:ext cx="8151763" cy="3521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1329" y="3818011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Storage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441329" y="4112190"/>
            <a:ext cx="1210397" cy="319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Centralized, scalable lake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49316" y="3586537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 Training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549316" y="4112190"/>
            <a:ext cx="1210397" cy="319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models at scale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193" y="1547491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1193" y="1841670"/>
            <a:ext cx="1210397" cy="3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inputs from systems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53279" y="1547491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Continuous Improvement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053279" y="2073143"/>
            <a:ext cx="1210397" cy="319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Feedback-driven retraining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14612" y="1547491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Processing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014612" y="2073143"/>
            <a:ext cx="1210397" cy="319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Cleanse, transform, enrich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212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&amp; ML Services by Cloud Platform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440805"/>
            <a:ext cx="8151763" cy="3010495"/>
          </a:xfrm>
          <a:prstGeom prst="roundRect">
            <a:avLst>
              <a:gd name="adj" fmla="val 197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854398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719239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3584079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0955" y="1445568"/>
            <a:ext cx="2035522" cy="408831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8" name="Text 6"/>
          <p:cNvSpPr/>
          <p:nvPr/>
        </p:nvSpPr>
        <p:spPr>
          <a:xfrm>
            <a:off x="642714" y="1535385"/>
            <a:ext cx="22092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6478" y="1445568"/>
            <a:ext cx="2442642" cy="408831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10" name="Text 8"/>
          <p:cNvSpPr/>
          <p:nvPr/>
        </p:nvSpPr>
        <p:spPr>
          <a:xfrm>
            <a:off x="2678237" y="1535385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79119" y="1445568"/>
            <a:ext cx="2279824" cy="408831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878" y="1535385"/>
            <a:ext cx="2453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Typical Use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58943" y="1445568"/>
            <a:ext cx="1384176" cy="408831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14" name="Text 12"/>
          <p:cNvSpPr/>
          <p:nvPr/>
        </p:nvSpPr>
        <p:spPr>
          <a:xfrm>
            <a:off x="7400702" y="1535385"/>
            <a:ext cx="15578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1946597"/>
            <a:ext cx="22092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Cloud Vertex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8237" y="1946597"/>
            <a:ext cx="21591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AutoML, custom training, model registry, MLOps pipelines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878" y="1946597"/>
            <a:ext cx="19963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recognition, NLP, recommendation engines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0702" y="1946597"/>
            <a:ext cx="110065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Retail, Healthcare, Media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2811438"/>
            <a:ext cx="22092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Amazon SageMaker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78237" y="2811438"/>
            <a:ext cx="21591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notebooks, built-in algorithms, real-time endpoints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878" y="2811438"/>
            <a:ext cx="19963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detection, demand forecasting, chatbots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0702" y="2811438"/>
            <a:ext cx="110065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Finance, E-commerce, Logistics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714" y="3676278"/>
            <a:ext cx="22092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Microsoft Azure ML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78237" y="3676278"/>
            <a:ext cx="21591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 designer, responsible AI tools, AKS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878" y="3676278"/>
            <a:ext cx="19963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maintenance, document intelligence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0702" y="3676278"/>
            <a:ext cx="110065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Manufacturing, Banking, Government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164"/>
            <a:ext cx="8151763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Cloud Platforms Across Industries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83828"/>
            <a:ext cx="282401" cy="282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7874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1618059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prediction &amp; medical imaging analysis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8257" y="983828"/>
            <a:ext cx="282401" cy="2824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8257" y="137874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628257" y="1618059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fraud detection &amp; risk scoring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60438"/>
            <a:ext cx="282401" cy="2824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35535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Retail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96119" y="2594670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recommendation systems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8257" y="1960438"/>
            <a:ext cx="282401" cy="2824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28257" y="235535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Manufacturing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28257" y="2594670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to reduce downtime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37049"/>
            <a:ext cx="282401" cy="2824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33196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96119" y="3571280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personalized learning paths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8257" y="2937049"/>
            <a:ext cx="282401" cy="28240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28257" y="333196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Agriculture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4628257" y="3571280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farming &amp; crop yield prediction</a:t>
            </a:r>
            <a:endParaRPr lang="en-US" sz="8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13659"/>
            <a:ext cx="282401" cy="28240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119" y="430857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Transportation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496119" y="4547890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prediction &amp; route optimization</a:t>
            </a:r>
            <a:endParaRPr lang="en-US" sz="8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8257" y="3913659"/>
            <a:ext cx="282401" cy="282401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628257" y="4308574"/>
            <a:ext cx="4019624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Cybersecurity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4628257" y="4547890"/>
            <a:ext cx="40196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threat detection &amp; response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516"/>
            <a:ext cx="8151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Practical Example: AI-Based Smart Water Level Monitoring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645072"/>
            <a:ext cx="264236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87674"/>
            <a:ext cx="2642369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monitoring causes overflow, water wastage, and delayed response — demanding a smarter, automated solution.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730178"/>
            <a:ext cx="264236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Role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072780"/>
            <a:ext cx="2642369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future water levels from historical sensor data; triggers alerts </a:t>
            </a: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overflow occurs.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3815283"/>
            <a:ext cx="264236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Impact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157886"/>
            <a:ext cx="264236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real-time water management with </a:t>
            </a: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manual intervention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398" y="1983209"/>
            <a:ext cx="5185172" cy="223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16278" y="3791499"/>
            <a:ext cx="1235173" cy="154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16278" y="3273902"/>
            <a:ext cx="1235173" cy="154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Wi-Fi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16278" y="2761534"/>
            <a:ext cx="1235173" cy="154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Microcontroller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16278" y="2243938"/>
            <a:ext cx="1235173" cy="154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Sensor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0916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Benefits vs. Challenges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94022" y="1818680"/>
            <a:ext cx="4107135" cy="2183829"/>
          </a:xfrm>
          <a:prstGeom prst="roundRect">
            <a:avLst>
              <a:gd name="adj" fmla="val 4674"/>
            </a:avLst>
          </a:prstGeom>
          <a:solidFill>
            <a:srgbClr val="876CD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60438"/>
            <a:ext cx="3823618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Benefits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35781" y="2344266"/>
            <a:ext cx="3823618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on demand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of repetitive tasks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 &amp; insights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availability (99.9% uptime)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deployment cycles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data-driven decisions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60438"/>
            <a:ext cx="3902943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Challenges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49701" y="2344266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privacy &amp; compliance risks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model training costs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dependency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in AI models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 &amp; regulatory concerns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296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 of AI in Cloud Platforms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2946053"/>
            <a:ext cx="8151763" cy="19050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4" name="Shape 2"/>
          <p:cNvSpPr/>
          <p:nvPr/>
        </p:nvSpPr>
        <p:spPr>
          <a:xfrm>
            <a:off x="1786161" y="2520776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5" name="Shape 3"/>
          <p:cNvSpPr/>
          <p:nvPr/>
        </p:nvSpPr>
        <p:spPr>
          <a:xfrm>
            <a:off x="1636216" y="278658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84065" y="2806526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37877" y="1380976"/>
            <a:ext cx="231561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7877" y="1698575"/>
            <a:ext cx="23156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and multimodal models as cloud services — GPT, Gemini, Claude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4281" y="2946053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10" name="Shape 8"/>
          <p:cNvSpPr/>
          <p:nvPr/>
        </p:nvSpPr>
        <p:spPr>
          <a:xfrm>
            <a:off x="3024336" y="278658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185" y="2806526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025997" y="3513088"/>
            <a:ext cx="231561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Edge AI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25997" y="3830687"/>
            <a:ext cx="23156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inference on edge devices with cloud sync for ultra-low latency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62475" y="2520776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12531" y="278658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0379" y="2806526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414192" y="1380976"/>
            <a:ext cx="231561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Quantum AI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14192" y="1698575"/>
            <a:ext cx="23156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computing accelerating model training exponentially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50595" y="2946053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20" name="Shape 18"/>
          <p:cNvSpPr/>
          <p:nvPr/>
        </p:nvSpPr>
        <p:spPr>
          <a:xfrm>
            <a:off x="5800651" y="278658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8499" y="2806526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802312" y="3513088"/>
            <a:ext cx="231561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Cities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02312" y="3830687"/>
            <a:ext cx="23156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AI decision-making at city scale &amp; autonomous vehicles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8789" y="2520776"/>
            <a:ext cx="19050" cy="425276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25" name="Shape 23"/>
          <p:cNvSpPr/>
          <p:nvPr/>
        </p:nvSpPr>
        <p:spPr>
          <a:xfrm>
            <a:off x="7188845" y="278658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6693" y="2806526"/>
            <a:ext cx="2232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190506" y="1380976"/>
            <a:ext cx="231561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Sustainable AI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190506" y="1698575"/>
            <a:ext cx="23156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cloud infrastructure with carbon-neutral data centers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01389"/>
            <a:ext cx="4722763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96119" y="1010841"/>
            <a:ext cx="7986699" cy="758354"/>
          </a:xfrm>
          <a:prstGeom prst="roundRect">
            <a:avLst>
              <a:gd name="adj" fmla="val 72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1552" y="1146274"/>
            <a:ext cx="752863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+ ML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552" y="1432917"/>
            <a:ext cx="752863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intelligent decision-making; learns continuously from data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1889671"/>
            <a:ext cx="7986699" cy="758354"/>
          </a:xfrm>
          <a:prstGeom prst="roundRect">
            <a:avLst>
              <a:gd name="adj" fmla="val 72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1552" y="2025104"/>
            <a:ext cx="752863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Computing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1552" y="2311747"/>
            <a:ext cx="752863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the scalable, cost-efficient infrastructure AI demands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2768501"/>
            <a:ext cx="7986699" cy="758354"/>
          </a:xfrm>
          <a:prstGeom prst="roundRect">
            <a:avLst>
              <a:gd name="adj" fmla="val 72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1552" y="2903934"/>
            <a:ext cx="752863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Together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1552" y="3190577"/>
            <a:ext cx="752863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next-generation applications across every industry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647331"/>
            <a:ext cx="7986699" cy="758354"/>
          </a:xfrm>
          <a:prstGeom prst="roundRect">
            <a:avLst>
              <a:gd name="adj" fmla="val 72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552" y="3782764"/>
            <a:ext cx="752863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Big Picture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1552" y="4069407"/>
            <a:ext cx="752863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Cloud is the backbone of digital transformation in the 21st century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602</Words>
  <Application>Microsoft Office PowerPoint</Application>
  <PresentationFormat>On-screen Show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Petrona Bold</vt:lpstr>
      <vt:lpstr>Inter Bold</vt:lpstr>
      <vt:lpstr>Arial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Deepak Rajesh</cp:lastModifiedBy>
  <cp:revision>2</cp:revision>
  <dcterms:created xsi:type="dcterms:W3CDTF">2026-07-17T00:31:50Z</dcterms:created>
  <dcterms:modified xsi:type="dcterms:W3CDTF">2026-07-17T08:59:56Z</dcterms:modified>
</cp:coreProperties>
</file>